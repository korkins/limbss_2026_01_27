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79" r:id="rId2"/>
    <p:sldId id="480" r:id="rId3"/>
    <p:sldId id="495" r:id="rId4"/>
    <p:sldId id="483" r:id="rId5"/>
    <p:sldId id="481" r:id="rId6"/>
    <p:sldId id="494" r:id="rId7"/>
    <p:sldId id="484" r:id="rId8"/>
    <p:sldId id="485" r:id="rId9"/>
    <p:sldId id="486" r:id="rId10"/>
    <p:sldId id="482" r:id="rId11"/>
    <p:sldId id="499" r:id="rId12"/>
    <p:sldId id="488" r:id="rId13"/>
    <p:sldId id="489" r:id="rId14"/>
    <p:sldId id="496" r:id="rId15"/>
    <p:sldId id="497" r:id="rId16"/>
    <p:sldId id="490" r:id="rId17"/>
    <p:sldId id="492" r:id="rId18"/>
    <p:sldId id="4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937C2-3985-4B40-93EF-48B71E69CFE1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796F2-2CE5-4ADC-88A7-AD83DF9C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7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796F2-2CE5-4ADC-88A7-AD83DF9C85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2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6624-8C84-02FF-BDED-5EE88F7E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AE600-F8FA-254A-56B0-ABB7408EF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58A42-CDAD-2DC1-5806-49F3A694C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7FA80-AAFE-C48B-50E3-0F69F043D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796F2-2CE5-4ADC-88A7-AD83DF9C85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55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D1B9-1CB3-BB08-81C7-562D2F823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531B-7037-A793-5BC9-C981BE6F5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C59F8-F442-A154-A6AF-6107DD22A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D9BE1-9DC9-12C6-05F9-D721EF06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46EF-064C-AAD1-BED9-DCADCEEE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69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EFC3-8B95-159F-569A-DFB97FFD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3800-3ACA-A8D4-AAAC-AF0AADEF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F3ED7-6BF1-2F53-C1A5-7C62CF69E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4C093-C71B-EC57-AB81-10F637CB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15413-E112-E2B9-9C33-EB4272A6D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3C22-C6AB-2FA4-DAC9-3876D6D8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B594B-BC31-EF63-4F48-0D9536093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BE98-261C-63BE-1E26-43BB9BCAD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856C4-AA1B-248C-1E5B-1F1EB5AF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A5B85-656E-FEB7-F6D1-7CD115C1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1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B01D-DA14-70A9-783F-2EFF28B1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337C-9414-44C9-016E-C944E37D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CC6D3-A1DC-4E9C-29F1-20D40F561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4EF57-E227-6BFE-4FCC-CB8616A0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EF7F9-4966-9F00-DE55-B77EB87C1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77AA1-E89A-CB2C-A3BD-2C7443784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6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F598-2958-D6C2-5897-0D10CAE0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636D-4871-438C-F56A-B5ED5FD7E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87971-5BB6-590A-DACC-2D3A6FF2C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FD165-8A76-51CF-3221-B989BE16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CBB369-EDD1-2CC7-A05C-1E4DD3726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28AF9-C56E-9B62-C9E1-9385B27E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D3769-E8AC-620B-C92D-050C9CC0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1756E-A69E-23DF-CB20-42DFA521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2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62D6-1367-C064-33E9-DAB9B0076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5A2CB-73D3-86B4-27AB-2732AA2B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6F3AC-6C8F-ED8B-C5DB-E9DD0246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4668B-1922-E504-3AB8-50E1F06A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0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48E557-6B34-6607-C8EF-F888225D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8B5F8-EFC8-75E1-6D6C-CF5B9735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FD93C-50CE-708F-19E4-84AB06D5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2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A583-59F0-2CB6-14F5-03B1E7284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A5BB9-A69F-9FC9-CA89-295B90AD4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982CD-83B8-5B66-70EB-25C688FB4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C8C11-387D-F54B-A886-7CAA44DC6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39904-C563-C4BB-5C8D-0EDA43C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513F9-4217-AC6D-6EC6-FD3AED279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5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A1AE-9421-9886-0FB0-E1B6C7FB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8B7BA-58BD-2D5D-8C4E-DA74885A2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DF5CF-78C8-087D-0B20-B1D93DF93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04865-DC78-E315-4307-027AE2AE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A6842-8707-02B5-4E67-94BB0BFD0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60181-B52B-52CA-C2C1-7BB6CE9E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251D2-70FB-A908-48E1-C58629EA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795CE-579B-0CE8-6E9F-336C5D754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1D2E3-F24B-56F7-7168-9FD38798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6B052-39A8-86F4-955E-22123D43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BA652-E8BB-589F-2E3F-5944FB28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61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939C5-6AE0-503B-EA12-5F2D8B7D9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5136F-FFEE-4CC0-BD56-7152271F1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B1B2F-E6FB-D315-551F-A7DDC8CF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42D08-A4A1-9D16-1C1B-6471A6F2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B73C1-68D7-7CC8-9743-FC2BE9B8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2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F5B26-B7F5-7825-E468-47BA8111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89F97-15AF-C4C9-46B1-6C4227516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ABA8A-7227-5252-3F2A-BBE1BD949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0E474-7604-4688-BDA5-A5818DD86B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8C19E-376F-CBE6-A327-00D8AF5BA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647A0-01EB-BE5A-5708-E6A2EEF58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49CCE-C141-471B-8EE3-632881648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9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image" Target="../media/image17.gif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gif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gif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3C2F-1181-6689-B6B5-AECB7D6D3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Limb Single Scattering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593895-D5DF-3288-80DF-EE3EF8178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338"/>
            <a:ext cx="7479591" cy="52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a-DK" sz="2000" dirty="0"/>
              <a:t>Zawada et al., AMT (2021): </a:t>
            </a:r>
            <a:br>
              <a:rPr lang="da-DK" sz="2000" dirty="0"/>
            </a:br>
            <a:r>
              <a:rPr lang="da-DK" sz="2000" dirty="0"/>
              <a:t>SASKTRAN-HR (options: SCIATRAN, GSLS)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9 solar geometries: SZA &amp; RAZ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11 wavelengths (943, 1020, 1700) </a:t>
            </a:r>
            <a:r>
              <a:rPr lang="en-US" sz="2000" dirty="0">
                <a:sym typeface="Wingdings" panose="05000000000000000000" pitchFamily="2" charset="2"/>
              </a:rPr>
              <a:t> 8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3 compositions: R,  R+O3,  R+O3+A   </a:t>
            </a:r>
            <a:r>
              <a:rPr lang="en-US" sz="2000" dirty="0">
                <a:sym typeface="Wingdings" panose="05000000000000000000" pitchFamily="2" charset="2"/>
              </a:rPr>
              <a:t> 2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3 surface albedos   </a:t>
            </a:r>
            <a:r>
              <a:rPr lang="en-US" sz="2000" dirty="0">
                <a:sym typeface="Wingdings" panose="05000000000000000000" pitchFamily="2" charset="2"/>
              </a:rPr>
              <a:t> 1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80 tangent heights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Total: 9 x 8 x 2 x 80 = 11,520 test cases (points) w/o aerosol …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…or 9 x 8 x 2 = 144 plots of  </a:t>
            </a:r>
            <a:r>
              <a:rPr lang="en-US" sz="2000" dirty="0" err="1"/>
              <a:t>Iss</a:t>
            </a:r>
            <a:r>
              <a:rPr lang="en-US" sz="2000" dirty="0"/>
              <a:t>  vs. tangent height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B0F188-B185-1ECB-CE80-B19924871AA9}"/>
              </a:ext>
            </a:extLst>
          </p:cNvPr>
          <p:cNvCxnSpPr>
            <a:cxnSpLocks/>
          </p:cNvCxnSpPr>
          <p:nvPr/>
        </p:nvCxnSpPr>
        <p:spPr>
          <a:xfrm>
            <a:off x="4066066" y="4112480"/>
            <a:ext cx="970098" cy="0"/>
          </a:xfrm>
          <a:prstGeom prst="line">
            <a:avLst/>
          </a:prstGeom>
          <a:ln w="254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F0DD8D-75B7-BE08-E345-A0F89240F16F}"/>
              </a:ext>
            </a:extLst>
          </p:cNvPr>
          <p:cNvCxnSpPr>
            <a:cxnSpLocks/>
          </p:cNvCxnSpPr>
          <p:nvPr/>
        </p:nvCxnSpPr>
        <p:spPr>
          <a:xfrm>
            <a:off x="2989207" y="3489341"/>
            <a:ext cx="1587436" cy="0"/>
          </a:xfrm>
          <a:prstGeom prst="line">
            <a:avLst/>
          </a:prstGeom>
          <a:ln w="254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B65F05-B3BF-96E0-5510-97F7C1464C16}"/>
              </a:ext>
            </a:extLst>
          </p:cNvPr>
          <p:cNvCxnSpPr>
            <a:cxnSpLocks/>
          </p:cNvCxnSpPr>
          <p:nvPr/>
        </p:nvCxnSpPr>
        <p:spPr>
          <a:xfrm>
            <a:off x="1131783" y="4677983"/>
            <a:ext cx="2010596" cy="0"/>
          </a:xfrm>
          <a:prstGeom prst="line">
            <a:avLst/>
          </a:prstGeom>
          <a:ln w="25400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03498D5-AF4E-9900-1FEF-7C1C7189D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488" y="757997"/>
            <a:ext cx="4310246" cy="409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146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ECF94-18A3-FC8E-1DFF-518C6527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E966-B320-E091-2FCC-922A7C1B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Comparison vs. Benchmark by Zawada et al., AMT (2021): goal ~ 0.2%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9822B1-9FED-844B-DAF6-BBBFE6634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060488"/>
            <a:ext cx="4584589" cy="27495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138819-31CF-7D3F-3D05-052D4712873A}"/>
              </a:ext>
            </a:extLst>
          </p:cNvPr>
          <p:cNvSpPr txBox="1"/>
          <p:nvPr/>
        </p:nvSpPr>
        <p:spPr>
          <a:xfrm>
            <a:off x="6964732" y="1623833"/>
            <a:ext cx="2133091" cy="7848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Same except for</a:t>
            </a:r>
          </a:p>
          <a:p>
            <a:r>
              <a:rPr lang="en-US" sz="1500" dirty="0">
                <a:solidFill>
                  <a:srgbClr val="0000FF"/>
                </a:solidFill>
              </a:rPr>
              <a:t>SZA=50 RAA=130</a:t>
            </a:r>
          </a:p>
          <a:p>
            <a:r>
              <a:rPr lang="en-US" sz="1500" dirty="0">
                <a:solidFill>
                  <a:srgbClr val="0000FF"/>
                </a:solidFill>
              </a:rPr>
              <a:t>SCA = 119.5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6E9AF5-D9BD-1BF1-1995-1F6863F2E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908559"/>
            <a:ext cx="4584589" cy="27556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7FB6AC-36B6-2A03-E547-AC41069B5401}"/>
              </a:ext>
            </a:extLst>
          </p:cNvPr>
          <p:cNvSpPr txBox="1"/>
          <p:nvPr/>
        </p:nvSpPr>
        <p:spPr>
          <a:xfrm>
            <a:off x="6798044" y="5349063"/>
            <a:ext cx="2133091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Note log scale on X</a:t>
            </a:r>
            <a:endParaRPr lang="en-US" sz="1500" dirty="0">
              <a:solidFill>
                <a:srgbClr val="0000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FEAC4D-4FC1-981A-632D-1E0916C01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337" y="3908559"/>
            <a:ext cx="4584589" cy="27495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F60282-B31A-A4B9-420F-F92DCC257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336" y="1054391"/>
            <a:ext cx="4584589" cy="27556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B24B44-978B-D347-4DC1-CCEF8B3CDD85}"/>
              </a:ext>
            </a:extLst>
          </p:cNvPr>
          <p:cNvSpPr txBox="1"/>
          <p:nvPr/>
        </p:nvSpPr>
        <p:spPr>
          <a:xfrm>
            <a:off x="2029726" y="1599037"/>
            <a:ext cx="1901432" cy="12464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351nm</a:t>
            </a:r>
          </a:p>
          <a:p>
            <a:r>
              <a:rPr lang="en-US" sz="1500" dirty="0"/>
              <a:t>Rayleigh OT: 0.6167</a:t>
            </a:r>
          </a:p>
          <a:p>
            <a:r>
              <a:rPr lang="en-US" sz="1500" dirty="0"/>
              <a:t>Ozone OT: 0.001 </a:t>
            </a:r>
            <a:r>
              <a:rPr lang="en-US" sz="1500" b="1" dirty="0">
                <a:solidFill>
                  <a:srgbClr val="EE0000"/>
                </a:solidFill>
              </a:rPr>
              <a:t>x 0</a:t>
            </a:r>
          </a:p>
          <a:p>
            <a:r>
              <a:rPr lang="en-US" sz="1500" dirty="0"/>
              <a:t>SZA=70 RAA=30</a:t>
            </a:r>
          </a:p>
          <a:p>
            <a:r>
              <a:rPr lang="en-US" sz="1500" dirty="0"/>
              <a:t>SCA=35.5</a:t>
            </a:r>
          </a:p>
        </p:txBody>
      </p:sp>
    </p:spTree>
    <p:extLst>
      <p:ext uri="{BB962C8B-B14F-4D97-AF65-F5344CB8AC3E}">
        <p14:creationId xmlns:p14="http://schemas.microsoft.com/office/powerpoint/2010/main" val="277054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67AA-4B95-725F-56EC-2AFBD183B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8FEE0A-4F4C-D26C-9F68-215AF67A6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1060488"/>
            <a:ext cx="4584589" cy="27495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809816-5149-FF0C-9379-79B55A93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336" y="1060488"/>
            <a:ext cx="4584589" cy="2749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1671D9-2FAA-BE97-633B-27A74CDB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Comparison vs. Benchmark by Zawada et al., AMT (2021): goal ~ 0.2%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09CFD-9F7D-C323-3BD9-671D75DCB99A}"/>
              </a:ext>
            </a:extLst>
          </p:cNvPr>
          <p:cNvSpPr txBox="1"/>
          <p:nvPr/>
        </p:nvSpPr>
        <p:spPr>
          <a:xfrm>
            <a:off x="6853334" y="1832230"/>
            <a:ext cx="1664048" cy="7848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Same except for</a:t>
            </a:r>
          </a:p>
          <a:p>
            <a:r>
              <a:rPr lang="en-US" sz="1500" dirty="0">
                <a:solidFill>
                  <a:srgbClr val="0000FF"/>
                </a:solidFill>
              </a:rPr>
              <a:t>SZA=80 RAA=150</a:t>
            </a:r>
          </a:p>
          <a:p>
            <a:r>
              <a:rPr lang="en-US" sz="1500" dirty="0">
                <a:solidFill>
                  <a:srgbClr val="0000FF"/>
                </a:solidFill>
              </a:rPr>
              <a:t>SCA = 148.5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73B12-5A9D-A61B-F3B1-CF312F307EDD}"/>
              </a:ext>
            </a:extLst>
          </p:cNvPr>
          <p:cNvSpPr txBox="1"/>
          <p:nvPr/>
        </p:nvSpPr>
        <p:spPr>
          <a:xfrm>
            <a:off x="1992593" y="1623833"/>
            <a:ext cx="1901432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300nm</a:t>
            </a:r>
          </a:p>
          <a:p>
            <a:r>
              <a:rPr lang="en-US" sz="1500" dirty="0"/>
              <a:t>Rayleigh OT: 1.2002</a:t>
            </a:r>
          </a:p>
          <a:p>
            <a:r>
              <a:rPr lang="en-US" sz="1500" b="1" dirty="0"/>
              <a:t>Ozone OT: 2.9165</a:t>
            </a:r>
          </a:p>
          <a:p>
            <a:r>
              <a:rPr lang="en-US" sz="1500" b="1" dirty="0"/>
              <a:t>SSA: 0.29</a:t>
            </a:r>
          </a:p>
          <a:p>
            <a:r>
              <a:rPr lang="en-US" sz="1500" dirty="0"/>
              <a:t>SZA=80 RAA=60</a:t>
            </a:r>
          </a:p>
          <a:p>
            <a:r>
              <a:rPr lang="en-US" sz="1500" dirty="0"/>
              <a:t>SCA=60.5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F8656-E6F2-86AF-473D-4D4EFB992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336" y="3908559"/>
            <a:ext cx="4584589" cy="27556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70DF49-F844-1ABB-9116-24506D73B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908558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32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A899-3E7D-4EC4-C7B6-94279304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3172-BC9B-C377-8225-36602FDB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Step 1: Check for Twilight (SZA &gt; 90)</a:t>
            </a:r>
          </a:p>
        </p:txBody>
      </p:sp>
      <p:pic>
        <p:nvPicPr>
          <p:cNvPr id="3" name="Picture 2" descr="A picture containing white, line&#10;&#10;AI-generated content may be incorrect.">
            <a:extLst>
              <a:ext uri="{FF2B5EF4-FFF2-40B4-BE49-F238E27FC236}">
                <a16:creationId xmlns:a16="http://schemas.microsoft.com/office/drawing/2014/main" id="{9387D48A-22D3-4D0D-AFDB-A0F222201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" y="2249432"/>
            <a:ext cx="8923451" cy="457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11AE8B-13F8-06FB-D527-150A10258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14" y="1632759"/>
            <a:ext cx="552242" cy="53900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BCD932-C9DC-BDB1-8156-704DC18ADEDE}"/>
              </a:ext>
            </a:extLst>
          </p:cNvPr>
          <p:cNvCxnSpPr>
            <a:cxnSpLocks/>
          </p:cNvCxnSpPr>
          <p:nvPr/>
        </p:nvCxnSpPr>
        <p:spPr>
          <a:xfrm>
            <a:off x="213916" y="4402804"/>
            <a:ext cx="9144000" cy="27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1D6BC5-154D-8A8E-10F3-E96FA9A1096D}"/>
              </a:ext>
            </a:extLst>
          </p:cNvPr>
          <p:cNvCxnSpPr>
            <a:cxnSpLocks/>
          </p:cNvCxnSpPr>
          <p:nvPr/>
        </p:nvCxnSpPr>
        <p:spPr>
          <a:xfrm>
            <a:off x="1958765" y="1757570"/>
            <a:ext cx="6034112" cy="2618840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9DBF922-2819-E3F8-E328-195181008C8B}"/>
              </a:ext>
            </a:extLst>
          </p:cNvPr>
          <p:cNvSpPr/>
          <p:nvPr/>
        </p:nvSpPr>
        <p:spPr>
          <a:xfrm>
            <a:off x="4454589" y="436058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A66EE3-03BE-7C89-6B05-690718483974}"/>
              </a:ext>
            </a:extLst>
          </p:cNvPr>
          <p:cNvSpPr txBox="1"/>
          <p:nvPr/>
        </p:nvSpPr>
        <p:spPr>
          <a:xfrm>
            <a:off x="9314292" y="6371511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1BC54-A8D7-2421-EFFC-F90EAA7AFCEE}"/>
              </a:ext>
            </a:extLst>
          </p:cNvPr>
          <p:cNvSpPr txBox="1"/>
          <p:nvPr/>
        </p:nvSpPr>
        <p:spPr>
          <a:xfrm>
            <a:off x="8669967" y="4485132"/>
            <a:ext cx="774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LOS</a:t>
            </a:r>
            <a:endParaRPr lang="en-US" baseline="-2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B0F6F-08F6-EF0C-ECB6-06D267A8EB53}"/>
              </a:ext>
            </a:extLst>
          </p:cNvPr>
          <p:cNvSpPr txBox="1"/>
          <p:nvPr/>
        </p:nvSpPr>
        <p:spPr>
          <a:xfrm>
            <a:off x="4164884" y="4376410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8BE3F7-40AA-A51F-3AF9-97A84616C3D9}"/>
              </a:ext>
            </a:extLst>
          </p:cNvPr>
          <p:cNvSpPr txBox="1"/>
          <p:nvPr/>
        </p:nvSpPr>
        <p:spPr>
          <a:xfrm>
            <a:off x="8125992" y="4350766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BCA2AC-FCC4-D168-3DBF-F792FABE919D}"/>
              </a:ext>
            </a:extLst>
          </p:cNvPr>
          <p:cNvSpPr txBox="1"/>
          <p:nvPr/>
        </p:nvSpPr>
        <p:spPr>
          <a:xfrm>
            <a:off x="4089456" y="6272604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2EA198-02F7-2E8F-8123-6D915DB9026D}"/>
              </a:ext>
            </a:extLst>
          </p:cNvPr>
          <p:cNvCxnSpPr>
            <a:cxnSpLocks/>
          </p:cNvCxnSpPr>
          <p:nvPr/>
        </p:nvCxnSpPr>
        <p:spPr>
          <a:xfrm>
            <a:off x="8750736" y="6723278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540C01-713F-C7C9-9C78-01BE45E1725F}"/>
              </a:ext>
            </a:extLst>
          </p:cNvPr>
          <p:cNvCxnSpPr>
            <a:cxnSpLocks/>
          </p:cNvCxnSpPr>
          <p:nvPr/>
        </p:nvCxnSpPr>
        <p:spPr>
          <a:xfrm flipV="1">
            <a:off x="4498022" y="1703605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E958CF-2884-4F1D-4DF6-D5E533A4F7DD}"/>
              </a:ext>
            </a:extLst>
          </p:cNvPr>
          <p:cNvSpPr txBox="1"/>
          <p:nvPr/>
        </p:nvSpPr>
        <p:spPr>
          <a:xfrm>
            <a:off x="4522214" y="1572904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05F7DC-1CDE-8771-36B7-001B0534576E}"/>
              </a:ext>
            </a:extLst>
          </p:cNvPr>
          <p:cNvCxnSpPr>
            <a:cxnSpLocks/>
          </p:cNvCxnSpPr>
          <p:nvPr/>
        </p:nvCxnSpPr>
        <p:spPr>
          <a:xfrm>
            <a:off x="626619" y="2699517"/>
            <a:ext cx="3827970" cy="1650548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968266A5-14A8-5AD1-EC4F-A7DC3636AE88}"/>
              </a:ext>
            </a:extLst>
          </p:cNvPr>
          <p:cNvSpPr/>
          <p:nvPr/>
        </p:nvSpPr>
        <p:spPr>
          <a:xfrm>
            <a:off x="8010060" y="4360589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38D545-68E1-BE37-10F2-136229BD3065}"/>
              </a:ext>
            </a:extLst>
          </p:cNvPr>
          <p:cNvSpPr/>
          <p:nvPr/>
        </p:nvSpPr>
        <p:spPr>
          <a:xfrm>
            <a:off x="4892804" y="3021270"/>
            <a:ext cx="91440" cy="9144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EF39471-252F-0F3C-553B-41D0C93C2388}"/>
              </a:ext>
            </a:extLst>
          </p:cNvPr>
          <p:cNvSpPr/>
          <p:nvPr/>
        </p:nvSpPr>
        <p:spPr>
          <a:xfrm>
            <a:off x="6848120" y="3849430"/>
            <a:ext cx="91440" cy="91440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07BB7A-684B-DB9E-2822-F43A13EBC69C}"/>
              </a:ext>
            </a:extLst>
          </p:cNvPr>
          <p:cNvSpPr txBox="1"/>
          <p:nvPr/>
        </p:nvSpPr>
        <p:spPr>
          <a:xfrm rot="1451019">
            <a:off x="4725626" y="2824832"/>
            <a:ext cx="2867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two points of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intersection above Z</a:t>
            </a:r>
            <a:r>
              <a:rPr lang="en-US" baseline="-25000" dirty="0">
                <a:solidFill>
                  <a:srgbClr val="0000FF"/>
                </a:solidFill>
              </a:rPr>
              <a:t>T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DEB9CC7-8357-456A-753D-0FF2EEF1C686}"/>
              </a:ext>
            </a:extLst>
          </p:cNvPr>
          <p:cNvCxnSpPr>
            <a:cxnSpLocks/>
          </p:cNvCxnSpPr>
          <p:nvPr/>
        </p:nvCxnSpPr>
        <p:spPr>
          <a:xfrm flipV="1">
            <a:off x="4498022" y="3568330"/>
            <a:ext cx="4859894" cy="315494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682F08A-4256-E23C-4882-644185118EB5}"/>
              </a:ext>
            </a:extLst>
          </p:cNvPr>
          <p:cNvSpPr txBox="1"/>
          <p:nvPr/>
        </p:nvSpPr>
        <p:spPr>
          <a:xfrm>
            <a:off x="8819064" y="2926920"/>
            <a:ext cx="1011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Local Normal</a:t>
            </a:r>
            <a:endParaRPr lang="en-US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4ECCBF-09A0-F93B-5882-D61E2F249C86}"/>
              </a:ext>
            </a:extLst>
          </p:cNvPr>
          <p:cNvSpPr txBox="1"/>
          <p:nvPr/>
        </p:nvSpPr>
        <p:spPr>
          <a:xfrm>
            <a:off x="3237828" y="3386872"/>
            <a:ext cx="121676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SZA </a:t>
            </a:r>
            <a:r>
              <a:rPr lang="en-US" baseline="-25000" dirty="0">
                <a:solidFill>
                  <a:srgbClr val="0000FF"/>
                </a:solidFill>
              </a:rPr>
              <a:t>T</a:t>
            </a:r>
            <a:r>
              <a:rPr lang="en-US" dirty="0">
                <a:solidFill>
                  <a:srgbClr val="0000FF"/>
                </a:solidFill>
              </a:rPr>
              <a:t> &lt; 90</a:t>
            </a:r>
            <a:endParaRPr lang="en-US" baseline="-25000" dirty="0">
              <a:solidFill>
                <a:srgbClr val="0000FF"/>
              </a:solidFill>
            </a:endParaRP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3BC59AE2-F986-4BA5-FC11-3904239E9FAB}"/>
              </a:ext>
            </a:extLst>
          </p:cNvPr>
          <p:cNvSpPr/>
          <p:nvPr/>
        </p:nvSpPr>
        <p:spPr>
          <a:xfrm rot="18845262">
            <a:off x="7737929" y="3873417"/>
            <a:ext cx="914400" cy="914400"/>
          </a:xfrm>
          <a:prstGeom prst="arc">
            <a:avLst>
              <a:gd name="adj1" fmla="val 14223231"/>
              <a:gd name="adj2" fmla="val 731429"/>
            </a:avLst>
          </a:prstGeom>
          <a:ln>
            <a:solidFill>
              <a:srgbClr val="0000FF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02FC698-BCF5-DB31-85F7-E4914429F402}"/>
              </a:ext>
            </a:extLst>
          </p:cNvPr>
          <p:cNvSpPr/>
          <p:nvPr/>
        </p:nvSpPr>
        <p:spPr>
          <a:xfrm rot="18845262">
            <a:off x="3997389" y="3785773"/>
            <a:ext cx="914400" cy="914400"/>
          </a:xfrm>
          <a:prstGeom prst="arc">
            <a:avLst>
              <a:gd name="adj1" fmla="val 14271655"/>
              <a:gd name="adj2" fmla="val 19102681"/>
            </a:avLst>
          </a:prstGeom>
          <a:ln>
            <a:solidFill>
              <a:srgbClr val="0000FF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6EAD6D-D33F-605D-5C6B-51FA82EB4E3E}"/>
              </a:ext>
            </a:extLst>
          </p:cNvPr>
          <p:cNvSpPr txBox="1"/>
          <p:nvPr/>
        </p:nvSpPr>
        <p:spPr>
          <a:xfrm>
            <a:off x="7609547" y="3460621"/>
            <a:ext cx="121676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SZA &gt; 90</a:t>
            </a:r>
            <a:endParaRPr lang="en-US" baseline="-25000" dirty="0">
              <a:solidFill>
                <a:srgbClr val="0000FF"/>
              </a:solidFill>
            </a:endParaRPr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1E21A281-D092-9CF7-EA93-C7D853419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1874" y="375614"/>
            <a:ext cx="5572084" cy="174503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EE0000"/>
                </a:solidFill>
              </a:rPr>
              <a:t>W</a:t>
            </a:r>
            <a:r>
              <a:rPr lang="en-US" sz="2000" dirty="0"/>
              <a:t>orst case (point </a:t>
            </a:r>
            <a:r>
              <a:rPr lang="en-US" sz="2000" dirty="0">
                <a:solidFill>
                  <a:srgbClr val="EE0000"/>
                </a:solidFill>
              </a:rPr>
              <a:t>W</a:t>
            </a:r>
            <a:r>
              <a:rPr lang="en-US" sz="2000" dirty="0"/>
              <a:t>): r = max, RAA = 0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Convert all angles from T to </a:t>
            </a:r>
            <a:r>
              <a:rPr lang="en-US" sz="2000" dirty="0">
                <a:solidFill>
                  <a:srgbClr val="EE0000"/>
                </a:solidFill>
              </a:rPr>
              <a:t>W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Make sure none results in the twilight condition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CFB4868-D3AC-6B29-2068-E96D7F53F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6" y="4086893"/>
            <a:ext cx="3456472" cy="273842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E1B3D21-A8EC-BA5C-DF63-02497E57B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488839">
            <a:off x="9462409" y="4152939"/>
            <a:ext cx="486143" cy="49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9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C810E-99C5-A97C-B9E8-9CDE50EB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white, line&#10;&#10;AI-generated content may be incorrect.">
            <a:extLst>
              <a:ext uri="{FF2B5EF4-FFF2-40B4-BE49-F238E27FC236}">
                <a16:creationId xmlns:a16="http://schemas.microsoft.com/office/drawing/2014/main" id="{B4F054C4-032E-AA5C-DD28-317A889B6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" y="2249432"/>
            <a:ext cx="8923451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90E589-026A-C8D3-307F-3F86A962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Two Systems of Coordinates: 3D {O-XYZ} &amp; 2D {O-LOS = O-XY}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FF4509-6933-8E3E-6D1D-43152C3AB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130" y="1419813"/>
            <a:ext cx="552242" cy="53900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1F45082-EAF8-E661-7707-66A6C0FD000F}"/>
              </a:ext>
            </a:extLst>
          </p:cNvPr>
          <p:cNvCxnSpPr>
            <a:cxnSpLocks/>
          </p:cNvCxnSpPr>
          <p:nvPr/>
        </p:nvCxnSpPr>
        <p:spPr>
          <a:xfrm flipH="1">
            <a:off x="4867787" y="1510069"/>
            <a:ext cx="914400" cy="914400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09555A-3670-5BB0-AC4D-86D8E6C7685E}"/>
              </a:ext>
            </a:extLst>
          </p:cNvPr>
          <p:cNvCxnSpPr>
            <a:cxnSpLocks/>
          </p:cNvCxnSpPr>
          <p:nvPr/>
        </p:nvCxnSpPr>
        <p:spPr>
          <a:xfrm>
            <a:off x="213916" y="4402804"/>
            <a:ext cx="9144000" cy="27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B1843F9-9C2A-9AB8-65D1-406C493FE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488839">
            <a:off x="9462409" y="4152939"/>
            <a:ext cx="486143" cy="49275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2FBB8D-B3F0-8E9D-07A7-802D4953762C}"/>
              </a:ext>
            </a:extLst>
          </p:cNvPr>
          <p:cNvCxnSpPr>
            <a:cxnSpLocks/>
          </p:cNvCxnSpPr>
          <p:nvPr/>
        </p:nvCxnSpPr>
        <p:spPr>
          <a:xfrm>
            <a:off x="3218171" y="1875354"/>
            <a:ext cx="2748733" cy="2485235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1F6F0C3-3CBE-B401-F787-6ECFD9742C10}"/>
              </a:ext>
            </a:extLst>
          </p:cNvPr>
          <p:cNvSpPr/>
          <p:nvPr/>
        </p:nvSpPr>
        <p:spPr>
          <a:xfrm>
            <a:off x="4454589" y="436058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43040E-61E5-CF31-A6F6-213F718A8E49}"/>
              </a:ext>
            </a:extLst>
          </p:cNvPr>
          <p:cNvSpPr txBox="1"/>
          <p:nvPr/>
        </p:nvSpPr>
        <p:spPr>
          <a:xfrm>
            <a:off x="9314292" y="6371511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1EFEF7-C52D-C3AA-8639-6120A11E84F8}"/>
              </a:ext>
            </a:extLst>
          </p:cNvPr>
          <p:cNvSpPr txBox="1"/>
          <p:nvPr/>
        </p:nvSpPr>
        <p:spPr>
          <a:xfrm>
            <a:off x="5683877" y="1118405"/>
            <a:ext cx="3336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“main” shells: </a:t>
            </a:r>
            <a:r>
              <a:rPr lang="el-GR" dirty="0"/>
              <a:t>ε</a:t>
            </a:r>
            <a:r>
              <a:rPr lang="en-US" dirty="0"/>
              <a:t> =</a:t>
            </a:r>
            <a:r>
              <a:rPr lang="en-US" dirty="0">
                <a:solidFill>
                  <a:schemeClr val="accent5"/>
                </a:solidFill>
              </a:rPr>
              <a:t>a</a:t>
            </a:r>
            <a:r>
              <a:rPr lang="en-US" dirty="0"/>
              <a:t> </a:t>
            </a:r>
            <a:r>
              <a:rPr lang="en-US" i="1" dirty="0"/>
              <a:t>r </a:t>
            </a:r>
            <a:r>
              <a:rPr lang="en-US" dirty="0"/>
              <a:t>+ </a:t>
            </a:r>
            <a:r>
              <a:rPr lang="en-US" dirty="0">
                <a:solidFill>
                  <a:schemeClr val="accent5"/>
                </a:solidFill>
              </a:rPr>
              <a:t>b</a:t>
            </a:r>
            <a:r>
              <a:rPr lang="en-US" dirty="0"/>
              <a:t> ( km</a:t>
            </a:r>
            <a:r>
              <a:rPr lang="en-US" baseline="30000" dirty="0"/>
              <a:t>-1 </a:t>
            </a:r>
            <a:r>
              <a:rPr lang="en-US" dirty="0"/>
              <a:t>)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51184C-5A2A-E096-5B65-565C4A2574CC}"/>
              </a:ext>
            </a:extLst>
          </p:cNvPr>
          <p:cNvSpPr txBox="1"/>
          <p:nvPr/>
        </p:nvSpPr>
        <p:spPr>
          <a:xfrm>
            <a:off x="11153322" y="6105966"/>
            <a:ext cx="640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41608F-45C5-6D1A-FD11-551843D46460}"/>
              </a:ext>
            </a:extLst>
          </p:cNvPr>
          <p:cNvSpPr txBox="1"/>
          <p:nvPr/>
        </p:nvSpPr>
        <p:spPr>
          <a:xfrm>
            <a:off x="8401873" y="4429423"/>
            <a:ext cx="3164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LOS:</a:t>
            </a:r>
            <a:br>
              <a:rPr lang="en-US" dirty="0"/>
            </a:br>
            <a:r>
              <a:rPr lang="en-US" dirty="0"/>
              <a:t>    RAA – relative azimuth angle</a:t>
            </a:r>
            <a:br>
              <a:rPr lang="en-US" dirty="0"/>
            </a:br>
            <a:r>
              <a:rPr lang="en-US" dirty="0"/>
              <a:t>    </a:t>
            </a:r>
            <a:r>
              <a:rPr lang="en-US" i="1" dirty="0" err="1"/>
              <a:t>z</a:t>
            </a:r>
            <a:r>
              <a:rPr lang="en-US" baseline="-25000" dirty="0" err="1"/>
              <a:t>TP</a:t>
            </a:r>
            <a:r>
              <a:rPr lang="en-US" baseline="-25000" dirty="0"/>
              <a:t>  </a:t>
            </a:r>
            <a:r>
              <a:rPr lang="en-US" dirty="0"/>
              <a:t>= R</a:t>
            </a:r>
            <a:r>
              <a:rPr lang="en-US" baseline="-25000" dirty="0"/>
              <a:t>E</a:t>
            </a:r>
            <a:r>
              <a:rPr lang="en-US" dirty="0"/>
              <a:t> + </a:t>
            </a:r>
            <a:r>
              <a:rPr lang="en-US" dirty="0" err="1"/>
              <a:t>h</a:t>
            </a:r>
            <a:r>
              <a:rPr lang="en-US" baseline="-25000" dirty="0" err="1"/>
              <a:t>TP</a:t>
            </a:r>
            <a:endParaRPr lang="en-US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A230B9-F742-CB6E-D1EE-08AA0CA1AAE1}"/>
              </a:ext>
            </a:extLst>
          </p:cNvPr>
          <p:cNvSpPr txBox="1"/>
          <p:nvPr/>
        </p:nvSpPr>
        <p:spPr>
          <a:xfrm>
            <a:off x="4164884" y="4376410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A0EBD052-2E19-BE99-017D-EE1345F56A32}"/>
              </a:ext>
            </a:extLst>
          </p:cNvPr>
          <p:cNvSpPr/>
          <p:nvPr/>
        </p:nvSpPr>
        <p:spPr>
          <a:xfrm>
            <a:off x="10611413" y="6335419"/>
            <a:ext cx="634761" cy="685100"/>
          </a:xfrm>
          <a:prstGeom prst="arc">
            <a:avLst>
              <a:gd name="adj1" fmla="val 15901494"/>
              <a:gd name="adj2" fmla="val 82138"/>
            </a:avLst>
          </a:prstGeom>
          <a:ln w="1270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65CB3DB-11F3-C393-30AE-8FCC69E52AA0}"/>
              </a:ext>
            </a:extLst>
          </p:cNvPr>
          <p:cNvSpPr/>
          <p:nvPr/>
        </p:nvSpPr>
        <p:spPr>
          <a:xfrm>
            <a:off x="7105780" y="4378951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95E9F4C-4B92-4AF8-9FB1-61D5C2AEB480}"/>
              </a:ext>
            </a:extLst>
          </p:cNvPr>
          <p:cNvSpPr/>
          <p:nvPr/>
        </p:nvSpPr>
        <p:spPr>
          <a:xfrm>
            <a:off x="7345495" y="4376459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C646376-90A0-028D-E246-E50FF8F52BA3}"/>
              </a:ext>
            </a:extLst>
          </p:cNvPr>
          <p:cNvSpPr/>
          <p:nvPr/>
        </p:nvSpPr>
        <p:spPr>
          <a:xfrm>
            <a:off x="5993061" y="4357358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D4036E-A5DB-9803-0766-AA621946C98A}"/>
              </a:ext>
            </a:extLst>
          </p:cNvPr>
          <p:cNvSpPr txBox="1"/>
          <p:nvPr/>
        </p:nvSpPr>
        <p:spPr>
          <a:xfrm>
            <a:off x="5975878" y="4406309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69A474-4C8C-72C8-7727-2BE92F8E1656}"/>
              </a:ext>
            </a:extLst>
          </p:cNvPr>
          <p:cNvSpPr txBox="1"/>
          <p:nvPr/>
        </p:nvSpPr>
        <p:spPr>
          <a:xfrm>
            <a:off x="4483733" y="6300266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438247E-10FE-6C87-9606-A2990BB65490}"/>
              </a:ext>
            </a:extLst>
          </p:cNvPr>
          <p:cNvCxnSpPr>
            <a:cxnSpLocks/>
          </p:cNvCxnSpPr>
          <p:nvPr/>
        </p:nvCxnSpPr>
        <p:spPr>
          <a:xfrm>
            <a:off x="8750736" y="6723278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CEE157B-59F2-1700-3E13-FDC8FA8128D8}"/>
              </a:ext>
            </a:extLst>
          </p:cNvPr>
          <p:cNvCxnSpPr>
            <a:cxnSpLocks/>
          </p:cNvCxnSpPr>
          <p:nvPr/>
        </p:nvCxnSpPr>
        <p:spPr>
          <a:xfrm flipV="1">
            <a:off x="4498022" y="1703605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A06284D-66B5-9BCC-73A7-F81767FE2C0D}"/>
              </a:ext>
            </a:extLst>
          </p:cNvPr>
          <p:cNvSpPr txBox="1"/>
          <p:nvPr/>
        </p:nvSpPr>
        <p:spPr>
          <a:xfrm>
            <a:off x="4522214" y="1572904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5C2C96-FBFE-4DB2-E68D-686119C8CC08}"/>
              </a:ext>
            </a:extLst>
          </p:cNvPr>
          <p:cNvSpPr txBox="1"/>
          <p:nvPr/>
        </p:nvSpPr>
        <p:spPr>
          <a:xfrm>
            <a:off x="11445923" y="6353946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62CDD43-1453-779A-0440-D9E0AE678623}"/>
              </a:ext>
            </a:extLst>
          </p:cNvPr>
          <p:cNvCxnSpPr>
            <a:cxnSpLocks/>
          </p:cNvCxnSpPr>
          <p:nvPr/>
        </p:nvCxnSpPr>
        <p:spPr>
          <a:xfrm>
            <a:off x="10882367" y="6705713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B6D254B-D6D4-3FD1-CF77-DA95C05F212F}"/>
              </a:ext>
            </a:extLst>
          </p:cNvPr>
          <p:cNvCxnSpPr>
            <a:cxnSpLocks/>
          </p:cNvCxnSpPr>
          <p:nvPr/>
        </p:nvCxnSpPr>
        <p:spPr>
          <a:xfrm flipV="1">
            <a:off x="10882367" y="5965126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FF24855-93CD-D4AD-7F27-B4F357B5EE57}"/>
              </a:ext>
            </a:extLst>
          </p:cNvPr>
          <p:cNvSpPr txBox="1"/>
          <p:nvPr/>
        </p:nvSpPr>
        <p:spPr>
          <a:xfrm>
            <a:off x="10920848" y="5834425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F65D5EF-3B5F-74B4-0A0F-8B8D912E2BE9}"/>
              </a:ext>
            </a:extLst>
          </p:cNvPr>
          <p:cNvCxnSpPr>
            <a:cxnSpLocks/>
          </p:cNvCxnSpPr>
          <p:nvPr/>
        </p:nvCxnSpPr>
        <p:spPr>
          <a:xfrm flipH="1">
            <a:off x="4880866" y="1529952"/>
            <a:ext cx="1563381" cy="1500435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87440D0-285E-C806-F911-CE7111D5BD47}"/>
              </a:ext>
            </a:extLst>
          </p:cNvPr>
          <p:cNvCxnSpPr>
            <a:cxnSpLocks/>
          </p:cNvCxnSpPr>
          <p:nvPr/>
        </p:nvCxnSpPr>
        <p:spPr>
          <a:xfrm flipH="1">
            <a:off x="5782187" y="1513148"/>
            <a:ext cx="2662307" cy="0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36D36D3-F9ED-44C8-150F-1AE66A3365D8}"/>
              </a:ext>
            </a:extLst>
          </p:cNvPr>
          <p:cNvSpPr txBox="1"/>
          <p:nvPr/>
        </p:nvSpPr>
        <p:spPr>
          <a:xfrm>
            <a:off x="6364036" y="1515603"/>
            <a:ext cx="3336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same for scattering, </a:t>
            </a:r>
            <a:r>
              <a:rPr lang="el-GR" dirty="0"/>
              <a:t>σ</a:t>
            </a:r>
            <a:r>
              <a:rPr lang="en-US" dirty="0"/>
              <a:t> ( km</a:t>
            </a:r>
            <a:r>
              <a:rPr lang="en-US" baseline="30000" dirty="0"/>
              <a:t>-1 </a:t>
            </a:r>
            <a:r>
              <a:rPr lang="en-US" dirty="0"/>
              <a:t>) 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9FB16D1-AA91-735B-D8B3-A2582F7F1BE8}"/>
              </a:ext>
            </a:extLst>
          </p:cNvPr>
          <p:cNvCxnSpPr>
            <a:cxnSpLocks/>
          </p:cNvCxnSpPr>
          <p:nvPr/>
        </p:nvCxnSpPr>
        <p:spPr>
          <a:xfrm flipH="1" flipV="1">
            <a:off x="2819522" y="3429000"/>
            <a:ext cx="1679499" cy="3276713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AE7DE08-BECD-B4C4-5CCF-845A4B98056A}"/>
              </a:ext>
            </a:extLst>
          </p:cNvPr>
          <p:cNvCxnSpPr>
            <a:cxnSpLocks/>
          </p:cNvCxnSpPr>
          <p:nvPr/>
        </p:nvCxnSpPr>
        <p:spPr>
          <a:xfrm flipH="1" flipV="1">
            <a:off x="3608653" y="6475298"/>
            <a:ext cx="890368" cy="230415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91E5948-20C4-B6DD-9FCE-17A3EA5E252C}"/>
              </a:ext>
            </a:extLst>
          </p:cNvPr>
          <p:cNvSpPr txBox="1"/>
          <p:nvPr/>
        </p:nvSpPr>
        <p:spPr>
          <a:xfrm>
            <a:off x="3784343" y="6221173"/>
            <a:ext cx="483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D1A164-DD6A-BDE8-918E-05A73B706441}"/>
              </a:ext>
            </a:extLst>
          </p:cNvPr>
          <p:cNvSpPr txBox="1"/>
          <p:nvPr/>
        </p:nvSpPr>
        <p:spPr>
          <a:xfrm>
            <a:off x="4159935" y="5905479"/>
            <a:ext cx="302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endParaRPr lang="en-US" i="1" baseline="-25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B7A1B6-D2E5-FB70-53EE-1EE6CB31207E}"/>
              </a:ext>
            </a:extLst>
          </p:cNvPr>
          <p:cNvSpPr txBox="1"/>
          <p:nvPr/>
        </p:nvSpPr>
        <p:spPr>
          <a:xfrm>
            <a:off x="6775557" y="1862798"/>
            <a:ext cx="2616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optical layer: fixed </a:t>
            </a:r>
            <a:r>
              <a:rPr lang="en-US" dirty="0">
                <a:solidFill>
                  <a:schemeClr val="accent5"/>
                </a:solidFill>
              </a:rPr>
              <a:t>a &amp; b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91563B8-9986-69F0-B6F5-0A5A9B046377}"/>
              </a:ext>
            </a:extLst>
          </p:cNvPr>
          <p:cNvSpPr txBox="1"/>
          <p:nvPr/>
        </p:nvSpPr>
        <p:spPr>
          <a:xfrm rot="19780022">
            <a:off x="1393814" y="3196192"/>
            <a:ext cx="218879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optical layer: </a:t>
            </a:r>
            <a:r>
              <a:rPr lang="en-US" i="1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 … </a:t>
            </a:r>
            <a:r>
              <a:rPr lang="en-US" i="1" dirty="0"/>
              <a:t>r</a:t>
            </a:r>
            <a:r>
              <a:rPr lang="en-US" baseline="-25000" dirty="0"/>
              <a:t>i+1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EF3789E-2D92-1F0F-6D8B-1CFA1274D564}"/>
              </a:ext>
            </a:extLst>
          </p:cNvPr>
          <p:cNvCxnSpPr>
            <a:cxnSpLocks/>
          </p:cNvCxnSpPr>
          <p:nvPr/>
        </p:nvCxnSpPr>
        <p:spPr>
          <a:xfrm>
            <a:off x="6125646" y="4404341"/>
            <a:ext cx="1904027" cy="0"/>
          </a:xfrm>
          <a:prstGeom prst="straightConnector1">
            <a:avLst/>
          </a:prstGeom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747483A-87BC-9C0C-0E56-5146E85BC556}"/>
              </a:ext>
            </a:extLst>
          </p:cNvPr>
          <p:cNvSpPr txBox="1"/>
          <p:nvPr/>
        </p:nvSpPr>
        <p:spPr>
          <a:xfrm>
            <a:off x="6578530" y="4505264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0000FF"/>
                </a:solidFill>
              </a:rPr>
              <a:t>τ</a:t>
            </a:r>
            <a:r>
              <a:rPr lang="en-US" baseline="-25000" dirty="0">
                <a:solidFill>
                  <a:srgbClr val="0000FF"/>
                </a:solidFill>
              </a:rPr>
              <a:t>LOS</a:t>
            </a:r>
            <a:r>
              <a:rPr lang="en-US" dirty="0">
                <a:solidFill>
                  <a:srgbClr val="0000FF"/>
                </a:solidFill>
              </a:rPr>
              <a:t>(s)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281D4F-00C9-47F7-C6FA-A020244517CC}"/>
              </a:ext>
            </a:extLst>
          </p:cNvPr>
          <p:cNvSpPr txBox="1"/>
          <p:nvPr/>
        </p:nvSpPr>
        <p:spPr>
          <a:xfrm rot="2607206">
            <a:off x="3620532" y="2775051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EE0000"/>
                </a:solidFill>
              </a:rPr>
              <a:t>τ</a:t>
            </a:r>
            <a:r>
              <a:rPr lang="en-US" baseline="-25000" dirty="0">
                <a:solidFill>
                  <a:srgbClr val="EE0000"/>
                </a:solidFill>
              </a:rPr>
              <a:t>Sol</a:t>
            </a:r>
            <a:r>
              <a:rPr lang="en-US" dirty="0">
                <a:solidFill>
                  <a:srgbClr val="EE0000"/>
                </a:solidFill>
              </a:rPr>
              <a:t>(s)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8FE94B7-7A49-98D1-EEC1-7596E127617A}"/>
              </a:ext>
            </a:extLst>
          </p:cNvPr>
          <p:cNvCxnSpPr>
            <a:cxnSpLocks/>
          </p:cNvCxnSpPr>
          <p:nvPr/>
        </p:nvCxnSpPr>
        <p:spPr>
          <a:xfrm flipH="1">
            <a:off x="6852554" y="2730898"/>
            <a:ext cx="875843" cy="888602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1EFC909-FAA9-6DBA-ADB8-1B0545C8B620}"/>
              </a:ext>
            </a:extLst>
          </p:cNvPr>
          <p:cNvCxnSpPr>
            <a:cxnSpLocks/>
          </p:cNvCxnSpPr>
          <p:nvPr/>
        </p:nvCxnSpPr>
        <p:spPr>
          <a:xfrm flipH="1">
            <a:off x="6813997" y="2750781"/>
            <a:ext cx="1576460" cy="1540232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BABD81B-70D0-F994-2AB5-74743BB358CE}"/>
              </a:ext>
            </a:extLst>
          </p:cNvPr>
          <p:cNvCxnSpPr>
            <a:cxnSpLocks/>
          </p:cNvCxnSpPr>
          <p:nvPr/>
        </p:nvCxnSpPr>
        <p:spPr>
          <a:xfrm flipH="1">
            <a:off x="7728397" y="2733977"/>
            <a:ext cx="2662307" cy="0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EA8A56EE-B002-5E13-C0F1-A7D3AA8447D2}"/>
              </a:ext>
            </a:extLst>
          </p:cNvPr>
          <p:cNvSpPr txBox="1"/>
          <p:nvPr/>
        </p:nvSpPr>
        <p:spPr>
          <a:xfrm>
            <a:off x="10472678" y="6447136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DFC037E-AAEB-40EF-DFCC-6F04CACD744E}"/>
              </a:ext>
            </a:extLst>
          </p:cNvPr>
          <p:cNvSpPr txBox="1"/>
          <p:nvPr/>
        </p:nvSpPr>
        <p:spPr>
          <a:xfrm>
            <a:off x="7701818" y="2394659"/>
            <a:ext cx="3164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auxiliary shells: more S-points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F8CA0BF-F3C9-0FF6-8567-AC143EB5E039}"/>
              </a:ext>
            </a:extLst>
          </p:cNvPr>
          <p:cNvSpPr txBox="1"/>
          <p:nvPr/>
        </p:nvSpPr>
        <p:spPr>
          <a:xfrm>
            <a:off x="8363798" y="2740851"/>
            <a:ext cx="3682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equidistant over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r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following 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27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D3C4-FEDB-4A6E-DBA6-1853BA90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0631-B61C-0398-C9A2-22521552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Auxiliary Shells &amp; Extra Points </a:t>
            </a:r>
            <a:r>
              <a:rPr lang="en-US" sz="3000" b="1" dirty="0">
                <a:solidFill>
                  <a:srgbClr val="EE0000"/>
                </a:solidFill>
              </a:rPr>
              <a:t>S</a:t>
            </a:r>
          </a:p>
        </p:txBody>
      </p:sp>
      <p:pic>
        <p:nvPicPr>
          <p:cNvPr id="3" name="Picture 2" descr="A picture containing white, line&#10;&#10;AI-generated content may be incorrect.">
            <a:extLst>
              <a:ext uri="{FF2B5EF4-FFF2-40B4-BE49-F238E27FC236}">
                <a16:creationId xmlns:a16="http://schemas.microsoft.com/office/drawing/2014/main" id="{BB3F1485-FF2F-4774-8C13-C1070870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" y="2057400"/>
            <a:ext cx="9298249" cy="4764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444596-8A6F-7573-3AEB-EB9A176B6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957" y="29702"/>
            <a:ext cx="5336365" cy="320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905517-CCD3-D11A-DD96-94639E2F6EA2}"/>
              </a:ext>
            </a:extLst>
          </p:cNvPr>
          <p:cNvSpPr txBox="1"/>
          <p:nvPr/>
        </p:nvSpPr>
        <p:spPr>
          <a:xfrm>
            <a:off x="8464013" y="699966"/>
            <a:ext cx="1901432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351nm</a:t>
            </a:r>
          </a:p>
          <a:p>
            <a:r>
              <a:rPr lang="en-US" sz="1500" dirty="0"/>
              <a:t>Rayleigh OT: 0.6167</a:t>
            </a:r>
          </a:p>
          <a:p>
            <a:r>
              <a:rPr lang="en-US" sz="1500" dirty="0"/>
              <a:t>Ozone OT: 0.001 </a:t>
            </a:r>
            <a:r>
              <a:rPr lang="en-US" sz="1500" b="1" dirty="0">
                <a:solidFill>
                  <a:srgbClr val="EE0000"/>
                </a:solidFill>
              </a:rPr>
              <a:t>x 0</a:t>
            </a:r>
          </a:p>
          <a:p>
            <a:r>
              <a:rPr lang="en-US" sz="1500" dirty="0"/>
              <a:t>SZA=70 RAA=30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9ED8E2-DE8E-A2FD-E645-C6015A56E873}"/>
              </a:ext>
            </a:extLst>
          </p:cNvPr>
          <p:cNvCxnSpPr>
            <a:cxnSpLocks/>
          </p:cNvCxnSpPr>
          <p:nvPr/>
        </p:nvCxnSpPr>
        <p:spPr>
          <a:xfrm>
            <a:off x="1619250" y="976313"/>
            <a:ext cx="671513" cy="2176462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E06EB-59DC-B41B-22EF-ECC44FE5FB67}"/>
              </a:ext>
            </a:extLst>
          </p:cNvPr>
          <p:cNvCxnSpPr>
            <a:cxnSpLocks/>
          </p:cNvCxnSpPr>
          <p:nvPr/>
        </p:nvCxnSpPr>
        <p:spPr>
          <a:xfrm>
            <a:off x="213916" y="4402804"/>
            <a:ext cx="9144000" cy="27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C06CEFC-AE86-BF4E-6E92-FF6DC8E9EC03}"/>
              </a:ext>
            </a:extLst>
          </p:cNvPr>
          <p:cNvSpPr/>
          <p:nvPr/>
        </p:nvSpPr>
        <p:spPr>
          <a:xfrm>
            <a:off x="4640336" y="436058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B4170-EF25-CB2A-BD74-6E8154D6CAE7}"/>
              </a:ext>
            </a:extLst>
          </p:cNvPr>
          <p:cNvSpPr txBox="1"/>
          <p:nvPr/>
        </p:nvSpPr>
        <p:spPr>
          <a:xfrm>
            <a:off x="4637782" y="4063921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F9A0E70-E7C9-7E2D-C274-34D361B90FEE}"/>
              </a:ext>
            </a:extLst>
          </p:cNvPr>
          <p:cNvSpPr/>
          <p:nvPr/>
        </p:nvSpPr>
        <p:spPr>
          <a:xfrm>
            <a:off x="1104153" y="4354991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421801-F34D-B360-2EB7-15E1B07D5687}"/>
              </a:ext>
            </a:extLst>
          </p:cNvPr>
          <p:cNvSpPr txBox="1"/>
          <p:nvPr/>
        </p:nvSpPr>
        <p:spPr>
          <a:xfrm>
            <a:off x="1072938" y="4472825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EF5B89-78A3-5782-07DB-7D599D79DCA5}"/>
              </a:ext>
            </a:extLst>
          </p:cNvPr>
          <p:cNvCxnSpPr>
            <a:cxnSpLocks/>
          </p:cNvCxnSpPr>
          <p:nvPr/>
        </p:nvCxnSpPr>
        <p:spPr>
          <a:xfrm>
            <a:off x="1619250" y="976313"/>
            <a:ext cx="1038225" cy="2176462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C3CCF1-FEED-995E-11A0-5A3C41EE486C}"/>
              </a:ext>
            </a:extLst>
          </p:cNvPr>
          <p:cNvCxnSpPr>
            <a:cxnSpLocks/>
          </p:cNvCxnSpPr>
          <p:nvPr/>
        </p:nvCxnSpPr>
        <p:spPr>
          <a:xfrm>
            <a:off x="1619250" y="976313"/>
            <a:ext cx="1543050" cy="2381250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0520F0-CA42-F9F3-DB6F-E3B19B0A6295}"/>
              </a:ext>
            </a:extLst>
          </p:cNvPr>
          <p:cNvCxnSpPr>
            <a:cxnSpLocks/>
          </p:cNvCxnSpPr>
          <p:nvPr/>
        </p:nvCxnSpPr>
        <p:spPr>
          <a:xfrm>
            <a:off x="1619250" y="976313"/>
            <a:ext cx="1900238" cy="2452687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0D2829B9-938C-61B7-8674-53E9864512DA}"/>
              </a:ext>
            </a:extLst>
          </p:cNvPr>
          <p:cNvSpPr/>
          <p:nvPr/>
        </p:nvSpPr>
        <p:spPr>
          <a:xfrm>
            <a:off x="1326493" y="4354991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63F5B5-5E2C-2993-FFE0-DDE1862F7AF0}"/>
              </a:ext>
            </a:extLst>
          </p:cNvPr>
          <p:cNvSpPr/>
          <p:nvPr/>
        </p:nvSpPr>
        <p:spPr>
          <a:xfrm>
            <a:off x="2055167" y="4359748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436A8E6-7401-D60D-87D3-BA33C4F2E8AF}"/>
              </a:ext>
            </a:extLst>
          </p:cNvPr>
          <p:cNvSpPr/>
          <p:nvPr/>
        </p:nvSpPr>
        <p:spPr>
          <a:xfrm>
            <a:off x="1788461" y="4354977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E6C8A4-8906-5EAC-BF6E-460911A01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628" y="3621031"/>
            <a:ext cx="5336365" cy="3200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1AA071A-4BDF-3ECC-A2FE-19BDD4A1D19A}"/>
              </a:ext>
            </a:extLst>
          </p:cNvPr>
          <p:cNvSpPr txBox="1"/>
          <p:nvPr/>
        </p:nvSpPr>
        <p:spPr>
          <a:xfrm>
            <a:off x="8904173" y="3961939"/>
            <a:ext cx="1544721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300nm</a:t>
            </a:r>
          </a:p>
          <a:p>
            <a:r>
              <a:rPr lang="en-US" sz="1500" dirty="0"/>
              <a:t>Rayleigh OT: 1.2</a:t>
            </a:r>
          </a:p>
          <a:p>
            <a:r>
              <a:rPr lang="en-US" sz="1500" dirty="0"/>
              <a:t>Ozone OT: 2.9</a:t>
            </a:r>
            <a:endParaRPr lang="en-US" sz="1500" b="1" dirty="0">
              <a:solidFill>
                <a:srgbClr val="EE0000"/>
              </a:solidFill>
            </a:endParaRPr>
          </a:p>
          <a:p>
            <a:r>
              <a:rPr lang="en-US" sz="1500" dirty="0"/>
              <a:t>SZA=80 RAA=60</a:t>
            </a:r>
          </a:p>
        </p:txBody>
      </p:sp>
    </p:spTree>
    <p:extLst>
      <p:ext uri="{BB962C8B-B14F-4D97-AF65-F5344CB8AC3E}">
        <p14:creationId xmlns:p14="http://schemas.microsoft.com/office/powerpoint/2010/main" val="326861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D04F-C1A4-191E-B90F-A54F2D7E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white, line&#10;&#10;AI-generated content may be incorrect.">
            <a:extLst>
              <a:ext uri="{FF2B5EF4-FFF2-40B4-BE49-F238E27FC236}">
                <a16:creationId xmlns:a16="http://schemas.microsoft.com/office/drawing/2014/main" id="{E82D7385-74EB-DEC5-486B-F8BE18FF0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" y="2249432"/>
            <a:ext cx="8923451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71BC61-CAE0-B2D9-ED9B-281F33739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5917"/>
            <a:ext cx="12191999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Add Auxiliary Shells, Define Location of All S-points: Main &amp; Aux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E05200-F3DD-28D5-335B-F230E5659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130" y="1419813"/>
            <a:ext cx="552242" cy="5390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057908-4CD7-D3C2-37F3-71237BDD1ABF}"/>
              </a:ext>
            </a:extLst>
          </p:cNvPr>
          <p:cNvCxnSpPr>
            <a:cxnSpLocks/>
          </p:cNvCxnSpPr>
          <p:nvPr/>
        </p:nvCxnSpPr>
        <p:spPr>
          <a:xfrm>
            <a:off x="213916" y="4402804"/>
            <a:ext cx="9144000" cy="27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2FA2EF1-DE4C-8DAF-EC7F-86DDF3C76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488839">
            <a:off x="9462409" y="4152939"/>
            <a:ext cx="486143" cy="49275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643A03-F671-ADF2-5C86-F2CF37FFC255}"/>
              </a:ext>
            </a:extLst>
          </p:cNvPr>
          <p:cNvCxnSpPr>
            <a:cxnSpLocks/>
          </p:cNvCxnSpPr>
          <p:nvPr/>
        </p:nvCxnSpPr>
        <p:spPr>
          <a:xfrm>
            <a:off x="3218171" y="1875354"/>
            <a:ext cx="2748733" cy="2485235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570A49E-6BDB-4A35-5155-C127F004E771}"/>
              </a:ext>
            </a:extLst>
          </p:cNvPr>
          <p:cNvSpPr/>
          <p:nvPr/>
        </p:nvSpPr>
        <p:spPr>
          <a:xfrm>
            <a:off x="4454589" y="436058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94C7EA-8C8B-C329-C257-D4D58D7727E4}"/>
              </a:ext>
            </a:extLst>
          </p:cNvPr>
          <p:cNvSpPr txBox="1"/>
          <p:nvPr/>
        </p:nvSpPr>
        <p:spPr>
          <a:xfrm>
            <a:off x="9314292" y="6371511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99B03F-42B6-E709-6253-E74E136F0E3A}"/>
              </a:ext>
            </a:extLst>
          </p:cNvPr>
          <p:cNvSpPr txBox="1"/>
          <p:nvPr/>
        </p:nvSpPr>
        <p:spPr>
          <a:xfrm>
            <a:off x="11153322" y="6105966"/>
            <a:ext cx="640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585725-F81D-4D58-00D8-B1476FECE590}"/>
              </a:ext>
            </a:extLst>
          </p:cNvPr>
          <p:cNvSpPr txBox="1"/>
          <p:nvPr/>
        </p:nvSpPr>
        <p:spPr>
          <a:xfrm>
            <a:off x="8563484" y="4449992"/>
            <a:ext cx="36285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LOS:</a:t>
            </a:r>
            <a:br>
              <a:rPr lang="en-US" dirty="0"/>
            </a:br>
            <a:r>
              <a:rPr lang="en-US" dirty="0"/>
              <a:t>The number of S-points, </a:t>
            </a:r>
            <a:r>
              <a:rPr lang="en-US" i="1" dirty="0"/>
              <a:t>ns</a:t>
            </a:r>
            <a:r>
              <a:rPr lang="en-US" dirty="0"/>
              <a:t>, is ODD = symmetric intersection + TP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is convenient for Simpson rule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B54CD8-5FDD-DE80-63D0-74D52967EDD3}"/>
              </a:ext>
            </a:extLst>
          </p:cNvPr>
          <p:cNvSpPr txBox="1"/>
          <p:nvPr/>
        </p:nvSpPr>
        <p:spPr>
          <a:xfrm>
            <a:off x="4164884" y="4376410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4A683755-6883-F052-12D4-F78C02E7BE3A}"/>
              </a:ext>
            </a:extLst>
          </p:cNvPr>
          <p:cNvSpPr/>
          <p:nvPr/>
        </p:nvSpPr>
        <p:spPr>
          <a:xfrm>
            <a:off x="10611413" y="6335419"/>
            <a:ext cx="634761" cy="685100"/>
          </a:xfrm>
          <a:prstGeom prst="arc">
            <a:avLst>
              <a:gd name="adj1" fmla="val 15901494"/>
              <a:gd name="adj2" fmla="val 82138"/>
            </a:avLst>
          </a:prstGeom>
          <a:ln w="1270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9B3C52-5B47-36F1-2090-69AF1C9A24C1}"/>
              </a:ext>
            </a:extLst>
          </p:cNvPr>
          <p:cNvSpPr/>
          <p:nvPr/>
        </p:nvSpPr>
        <p:spPr>
          <a:xfrm>
            <a:off x="7105780" y="4378951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8A408A4-1801-114D-B2B9-98B831D9E378}"/>
              </a:ext>
            </a:extLst>
          </p:cNvPr>
          <p:cNvSpPr/>
          <p:nvPr/>
        </p:nvSpPr>
        <p:spPr>
          <a:xfrm>
            <a:off x="7345495" y="4376459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FFBDC46-1185-AFB7-2BD0-3DA5C6904D8D}"/>
              </a:ext>
            </a:extLst>
          </p:cNvPr>
          <p:cNvSpPr/>
          <p:nvPr/>
        </p:nvSpPr>
        <p:spPr>
          <a:xfrm>
            <a:off x="5993061" y="4357358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9AB09F-7FFD-840A-D6C9-A596641E21AA}"/>
              </a:ext>
            </a:extLst>
          </p:cNvPr>
          <p:cNvSpPr txBox="1"/>
          <p:nvPr/>
        </p:nvSpPr>
        <p:spPr>
          <a:xfrm>
            <a:off x="5975878" y="4406309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2FD519-3461-6C40-BEFA-4F792AF8D751}"/>
              </a:ext>
            </a:extLst>
          </p:cNvPr>
          <p:cNvSpPr txBox="1"/>
          <p:nvPr/>
        </p:nvSpPr>
        <p:spPr>
          <a:xfrm>
            <a:off x="4483733" y="6300266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28F4CF-7621-21EC-7FF1-1E3C639799E6}"/>
              </a:ext>
            </a:extLst>
          </p:cNvPr>
          <p:cNvCxnSpPr>
            <a:cxnSpLocks/>
          </p:cNvCxnSpPr>
          <p:nvPr/>
        </p:nvCxnSpPr>
        <p:spPr>
          <a:xfrm>
            <a:off x="8750736" y="6723278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457B8CA-0731-8725-EEE0-23474D05C78F}"/>
              </a:ext>
            </a:extLst>
          </p:cNvPr>
          <p:cNvCxnSpPr>
            <a:cxnSpLocks/>
          </p:cNvCxnSpPr>
          <p:nvPr/>
        </p:nvCxnSpPr>
        <p:spPr>
          <a:xfrm flipV="1">
            <a:off x="4498022" y="1703605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674C5D7-6947-F9DB-401B-171DECCDC956}"/>
              </a:ext>
            </a:extLst>
          </p:cNvPr>
          <p:cNvSpPr txBox="1"/>
          <p:nvPr/>
        </p:nvSpPr>
        <p:spPr>
          <a:xfrm>
            <a:off x="4522214" y="1572904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C877A2-E69B-B7CD-68A8-33EB746CD5E3}"/>
              </a:ext>
            </a:extLst>
          </p:cNvPr>
          <p:cNvSpPr txBox="1"/>
          <p:nvPr/>
        </p:nvSpPr>
        <p:spPr>
          <a:xfrm>
            <a:off x="11445923" y="6353946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C3E2369-0E83-3F8F-3673-7D28930D31F0}"/>
              </a:ext>
            </a:extLst>
          </p:cNvPr>
          <p:cNvCxnSpPr>
            <a:cxnSpLocks/>
          </p:cNvCxnSpPr>
          <p:nvPr/>
        </p:nvCxnSpPr>
        <p:spPr>
          <a:xfrm>
            <a:off x="10882367" y="6705713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C365E56-8B30-3F53-2809-B78F09CD68E5}"/>
              </a:ext>
            </a:extLst>
          </p:cNvPr>
          <p:cNvCxnSpPr>
            <a:cxnSpLocks/>
          </p:cNvCxnSpPr>
          <p:nvPr/>
        </p:nvCxnSpPr>
        <p:spPr>
          <a:xfrm flipV="1">
            <a:off x="10882367" y="5965126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F9AC2B7-D34B-EBB7-B638-10A6057260A0}"/>
              </a:ext>
            </a:extLst>
          </p:cNvPr>
          <p:cNvSpPr txBox="1"/>
          <p:nvPr/>
        </p:nvSpPr>
        <p:spPr>
          <a:xfrm>
            <a:off x="10920848" y="5834425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51396CC-DC66-C6CF-39A1-1CB515C69058}"/>
              </a:ext>
            </a:extLst>
          </p:cNvPr>
          <p:cNvCxnSpPr>
            <a:cxnSpLocks/>
          </p:cNvCxnSpPr>
          <p:nvPr/>
        </p:nvCxnSpPr>
        <p:spPr>
          <a:xfrm flipH="1" flipV="1">
            <a:off x="2819522" y="3429000"/>
            <a:ext cx="1679499" cy="3276713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CDAB15A-E1C5-2BAD-5E86-6C68D66A1ECC}"/>
              </a:ext>
            </a:extLst>
          </p:cNvPr>
          <p:cNvCxnSpPr>
            <a:cxnSpLocks/>
          </p:cNvCxnSpPr>
          <p:nvPr/>
        </p:nvCxnSpPr>
        <p:spPr>
          <a:xfrm flipH="1" flipV="1">
            <a:off x="3608653" y="6475298"/>
            <a:ext cx="890368" cy="230415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D35D810-0786-A7BB-4AAA-677393997B53}"/>
              </a:ext>
            </a:extLst>
          </p:cNvPr>
          <p:cNvSpPr txBox="1"/>
          <p:nvPr/>
        </p:nvSpPr>
        <p:spPr>
          <a:xfrm>
            <a:off x="3784343" y="6221173"/>
            <a:ext cx="483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F93C0F1-3997-6881-61A6-952E00550288}"/>
              </a:ext>
            </a:extLst>
          </p:cNvPr>
          <p:cNvSpPr txBox="1"/>
          <p:nvPr/>
        </p:nvSpPr>
        <p:spPr>
          <a:xfrm>
            <a:off x="4159935" y="5905479"/>
            <a:ext cx="302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endParaRPr lang="en-US" i="1" baseline="-25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8DFBB9-492C-0112-F066-A51E8454509D}"/>
              </a:ext>
            </a:extLst>
          </p:cNvPr>
          <p:cNvSpPr txBox="1"/>
          <p:nvPr/>
        </p:nvSpPr>
        <p:spPr>
          <a:xfrm rot="19780022">
            <a:off x="1393814" y="3196192"/>
            <a:ext cx="218879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optical layer: </a:t>
            </a:r>
            <a:r>
              <a:rPr lang="en-US" i="1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 … </a:t>
            </a:r>
            <a:r>
              <a:rPr lang="en-US" i="1" dirty="0"/>
              <a:t>r</a:t>
            </a:r>
            <a:r>
              <a:rPr lang="en-US" baseline="-25000" dirty="0"/>
              <a:t>i+1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A4336EA-2C02-2264-A1AB-0A02715CB7A2}"/>
              </a:ext>
            </a:extLst>
          </p:cNvPr>
          <p:cNvCxnSpPr>
            <a:cxnSpLocks/>
          </p:cNvCxnSpPr>
          <p:nvPr/>
        </p:nvCxnSpPr>
        <p:spPr>
          <a:xfrm>
            <a:off x="6125646" y="4404341"/>
            <a:ext cx="1904027" cy="0"/>
          </a:xfrm>
          <a:prstGeom prst="straightConnector1">
            <a:avLst/>
          </a:prstGeom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1F1FF70-2B96-B251-21E8-9D71B8A097AE}"/>
              </a:ext>
            </a:extLst>
          </p:cNvPr>
          <p:cNvSpPr txBox="1"/>
          <p:nvPr/>
        </p:nvSpPr>
        <p:spPr>
          <a:xfrm>
            <a:off x="6578530" y="4505264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0000FF"/>
                </a:solidFill>
              </a:rPr>
              <a:t>τ</a:t>
            </a:r>
            <a:r>
              <a:rPr lang="en-US" baseline="-25000" dirty="0">
                <a:solidFill>
                  <a:srgbClr val="0000FF"/>
                </a:solidFill>
              </a:rPr>
              <a:t>LOS</a:t>
            </a:r>
            <a:r>
              <a:rPr lang="en-US" dirty="0">
                <a:solidFill>
                  <a:srgbClr val="0000FF"/>
                </a:solidFill>
              </a:rPr>
              <a:t>(s)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A69E63-CB4C-A022-0A02-822429395B98}"/>
              </a:ext>
            </a:extLst>
          </p:cNvPr>
          <p:cNvSpPr txBox="1"/>
          <p:nvPr/>
        </p:nvSpPr>
        <p:spPr>
          <a:xfrm rot="2607206">
            <a:off x="3620532" y="2775051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EE0000"/>
                </a:solidFill>
              </a:rPr>
              <a:t>τ</a:t>
            </a:r>
            <a:r>
              <a:rPr lang="en-US" baseline="-25000" dirty="0">
                <a:solidFill>
                  <a:srgbClr val="EE0000"/>
                </a:solidFill>
              </a:rPr>
              <a:t>Sol</a:t>
            </a:r>
            <a:r>
              <a:rPr lang="en-US" dirty="0">
                <a:solidFill>
                  <a:srgbClr val="EE0000"/>
                </a:solidFill>
              </a:rPr>
              <a:t>(s)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6FE4A43-36A3-6F46-14ED-55399F86E1F2}"/>
              </a:ext>
            </a:extLst>
          </p:cNvPr>
          <p:cNvCxnSpPr>
            <a:cxnSpLocks/>
          </p:cNvCxnSpPr>
          <p:nvPr/>
        </p:nvCxnSpPr>
        <p:spPr>
          <a:xfrm flipH="1">
            <a:off x="7105780" y="2481541"/>
            <a:ext cx="655579" cy="1844194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C087DC9-1D3E-95B1-334C-08D3414449F9}"/>
              </a:ext>
            </a:extLst>
          </p:cNvPr>
          <p:cNvCxnSpPr>
            <a:cxnSpLocks/>
          </p:cNvCxnSpPr>
          <p:nvPr/>
        </p:nvCxnSpPr>
        <p:spPr>
          <a:xfrm flipH="1">
            <a:off x="6119319" y="2478310"/>
            <a:ext cx="1642040" cy="1823572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B2F1E5B-564D-DB6B-FCD4-91ACBFE600E1}"/>
              </a:ext>
            </a:extLst>
          </p:cNvPr>
          <p:cNvCxnSpPr>
            <a:cxnSpLocks/>
          </p:cNvCxnSpPr>
          <p:nvPr/>
        </p:nvCxnSpPr>
        <p:spPr>
          <a:xfrm flipH="1">
            <a:off x="7734705" y="2484337"/>
            <a:ext cx="457200" cy="0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7158306-8944-4CE5-4D36-966CA5CD13F4}"/>
              </a:ext>
            </a:extLst>
          </p:cNvPr>
          <p:cNvSpPr txBox="1"/>
          <p:nvPr/>
        </p:nvSpPr>
        <p:spPr>
          <a:xfrm>
            <a:off x="10472678" y="6447136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pic>
        <p:nvPicPr>
          <p:cNvPr id="12" name="Picture 11" descr="Text&#10;&#10;AI-generated content may be incorrect.">
            <a:extLst>
              <a:ext uri="{FF2B5EF4-FFF2-40B4-BE49-F238E27FC236}">
                <a16:creationId xmlns:a16="http://schemas.microsoft.com/office/drawing/2014/main" id="{BE471395-B0BA-7D4D-93FF-0AFC4B306A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606" y="1059509"/>
            <a:ext cx="3587653" cy="2752708"/>
          </a:xfrm>
          <a:prstGeom prst="rect">
            <a:avLst/>
          </a:prstGeom>
        </p:spPr>
      </p:pic>
      <p:sp>
        <p:nvSpPr>
          <p:cNvPr id="14" name="Left Brace 13">
            <a:extLst>
              <a:ext uri="{FF2B5EF4-FFF2-40B4-BE49-F238E27FC236}">
                <a16:creationId xmlns:a16="http://schemas.microsoft.com/office/drawing/2014/main" id="{6DDB4020-D4E7-1904-AB11-7CB86F5C0D97}"/>
              </a:ext>
            </a:extLst>
          </p:cNvPr>
          <p:cNvSpPr/>
          <p:nvPr/>
        </p:nvSpPr>
        <p:spPr>
          <a:xfrm>
            <a:off x="8187070" y="1121735"/>
            <a:ext cx="170121" cy="2752434"/>
          </a:xfrm>
          <a:prstGeom prst="leftBrace">
            <a:avLst>
              <a:gd name="adj1" fmla="val 98958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BFF3CA-C13F-71F7-03BE-F13C9680EA48}"/>
              </a:ext>
            </a:extLst>
          </p:cNvPr>
          <p:cNvCxnSpPr>
            <a:cxnSpLocks/>
          </p:cNvCxnSpPr>
          <p:nvPr/>
        </p:nvCxnSpPr>
        <p:spPr>
          <a:xfrm flipH="1">
            <a:off x="7407808" y="2491596"/>
            <a:ext cx="355355" cy="1803471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291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1F3A-ECA6-F310-DA0A-D3B55FFD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white, line&#10;&#10;AI-generated content may be incorrect.">
            <a:extLst>
              <a:ext uri="{FF2B5EF4-FFF2-40B4-BE49-F238E27FC236}">
                <a16:creationId xmlns:a16="http://schemas.microsoft.com/office/drawing/2014/main" id="{A83AA8ED-91D5-5BF1-61B0-F02DB137B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" y="2249432"/>
            <a:ext cx="8923451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E6A872-9F72-EF97-5527-36B66E9D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What Happens at Point </a:t>
            </a:r>
            <a:r>
              <a:rPr lang="en-US" sz="3000" b="1" dirty="0">
                <a:solidFill>
                  <a:srgbClr val="EE0000"/>
                </a:solidFill>
              </a:rPr>
              <a:t>S </a:t>
            </a:r>
            <a:r>
              <a:rPr lang="en-US" sz="3000" dirty="0"/>
              <a:t>(“Monte Carlo” approach)</a:t>
            </a:r>
            <a:r>
              <a:rPr lang="en-US" sz="3000" b="1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FEB86C-83CB-5859-EE62-1702271CB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130" y="1419813"/>
            <a:ext cx="552242" cy="5390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99778F-DDDB-F821-31DC-72725BFAD810}"/>
              </a:ext>
            </a:extLst>
          </p:cNvPr>
          <p:cNvCxnSpPr>
            <a:cxnSpLocks/>
          </p:cNvCxnSpPr>
          <p:nvPr/>
        </p:nvCxnSpPr>
        <p:spPr>
          <a:xfrm>
            <a:off x="213916" y="4402804"/>
            <a:ext cx="9144000" cy="27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10BFE8DC-3253-5404-5FB4-B6B6318FD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488839">
            <a:off x="9462409" y="4152939"/>
            <a:ext cx="486143" cy="49275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F0B3CF-7EA4-BC91-A0D5-F333BF5B0729}"/>
              </a:ext>
            </a:extLst>
          </p:cNvPr>
          <p:cNvCxnSpPr>
            <a:cxnSpLocks/>
          </p:cNvCxnSpPr>
          <p:nvPr/>
        </p:nvCxnSpPr>
        <p:spPr>
          <a:xfrm>
            <a:off x="3218171" y="1875354"/>
            <a:ext cx="2748733" cy="2485235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E8D2B56-466D-F0E7-75B9-A52DFF5458E4}"/>
              </a:ext>
            </a:extLst>
          </p:cNvPr>
          <p:cNvSpPr/>
          <p:nvPr/>
        </p:nvSpPr>
        <p:spPr>
          <a:xfrm>
            <a:off x="4454589" y="436058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7D6AD2-A72C-ABE5-C967-DC1945B922BD}"/>
              </a:ext>
            </a:extLst>
          </p:cNvPr>
          <p:cNvSpPr txBox="1"/>
          <p:nvPr/>
        </p:nvSpPr>
        <p:spPr>
          <a:xfrm>
            <a:off x="9314292" y="6371511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23FAAB-6BC9-3DD5-39A3-6049DF02CB20}"/>
              </a:ext>
            </a:extLst>
          </p:cNvPr>
          <p:cNvSpPr txBox="1"/>
          <p:nvPr/>
        </p:nvSpPr>
        <p:spPr>
          <a:xfrm>
            <a:off x="8401873" y="4429423"/>
            <a:ext cx="912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LOS</a:t>
            </a:r>
            <a:endParaRPr lang="en-US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A3C111-7F34-79C3-D5EB-D0EE7808EBE5}"/>
              </a:ext>
            </a:extLst>
          </p:cNvPr>
          <p:cNvSpPr txBox="1"/>
          <p:nvPr/>
        </p:nvSpPr>
        <p:spPr>
          <a:xfrm>
            <a:off x="4164884" y="4376410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CFC7F4-F763-80F9-F07D-AB838F9C68D7}"/>
              </a:ext>
            </a:extLst>
          </p:cNvPr>
          <p:cNvSpPr/>
          <p:nvPr/>
        </p:nvSpPr>
        <p:spPr>
          <a:xfrm>
            <a:off x="7105780" y="4378951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83436C-6FFF-688A-E20F-8483DE8E0099}"/>
              </a:ext>
            </a:extLst>
          </p:cNvPr>
          <p:cNvSpPr/>
          <p:nvPr/>
        </p:nvSpPr>
        <p:spPr>
          <a:xfrm>
            <a:off x="7345495" y="4376459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89A0579-EC6C-A1A8-901D-77EB97B6F503}"/>
              </a:ext>
            </a:extLst>
          </p:cNvPr>
          <p:cNvSpPr/>
          <p:nvPr/>
        </p:nvSpPr>
        <p:spPr>
          <a:xfrm>
            <a:off x="5993061" y="4357358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315D1A-BC07-3655-9D18-8A8D2CAE7121}"/>
              </a:ext>
            </a:extLst>
          </p:cNvPr>
          <p:cNvSpPr txBox="1"/>
          <p:nvPr/>
        </p:nvSpPr>
        <p:spPr>
          <a:xfrm>
            <a:off x="5975878" y="4406309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941B45-222F-172A-3537-458EDA146DB7}"/>
              </a:ext>
            </a:extLst>
          </p:cNvPr>
          <p:cNvSpPr txBox="1"/>
          <p:nvPr/>
        </p:nvSpPr>
        <p:spPr>
          <a:xfrm>
            <a:off x="4483733" y="6300266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904478-5A18-719D-57E1-028F27A85348}"/>
              </a:ext>
            </a:extLst>
          </p:cNvPr>
          <p:cNvCxnSpPr>
            <a:cxnSpLocks/>
          </p:cNvCxnSpPr>
          <p:nvPr/>
        </p:nvCxnSpPr>
        <p:spPr>
          <a:xfrm>
            <a:off x="8750736" y="6723278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1DF3C80-5418-9BEE-3C42-0DABCDA2FCFB}"/>
              </a:ext>
            </a:extLst>
          </p:cNvPr>
          <p:cNvCxnSpPr>
            <a:cxnSpLocks/>
          </p:cNvCxnSpPr>
          <p:nvPr/>
        </p:nvCxnSpPr>
        <p:spPr>
          <a:xfrm flipV="1">
            <a:off x="4498022" y="1703605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B1CDCB7-E8D9-A092-3DF7-B6DB1280E4C0}"/>
              </a:ext>
            </a:extLst>
          </p:cNvPr>
          <p:cNvSpPr txBox="1"/>
          <p:nvPr/>
        </p:nvSpPr>
        <p:spPr>
          <a:xfrm>
            <a:off x="4522214" y="1572904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A6CD183-71E2-4C27-ED10-9BB41041B5EB}"/>
              </a:ext>
            </a:extLst>
          </p:cNvPr>
          <p:cNvCxnSpPr>
            <a:cxnSpLocks/>
          </p:cNvCxnSpPr>
          <p:nvPr/>
        </p:nvCxnSpPr>
        <p:spPr>
          <a:xfrm>
            <a:off x="6125646" y="4404341"/>
            <a:ext cx="1904027" cy="0"/>
          </a:xfrm>
          <a:prstGeom prst="straightConnector1">
            <a:avLst/>
          </a:prstGeom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32AC6BE-0510-7EC6-F858-C3D5BE428AD3}"/>
              </a:ext>
            </a:extLst>
          </p:cNvPr>
          <p:cNvSpPr txBox="1"/>
          <p:nvPr/>
        </p:nvSpPr>
        <p:spPr>
          <a:xfrm>
            <a:off x="6578530" y="4505264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0000FF"/>
                </a:solidFill>
              </a:rPr>
              <a:t>τ</a:t>
            </a:r>
            <a:r>
              <a:rPr lang="en-US" baseline="-25000" dirty="0">
                <a:solidFill>
                  <a:srgbClr val="0000FF"/>
                </a:solidFill>
              </a:rPr>
              <a:t>LOS</a:t>
            </a:r>
            <a:r>
              <a:rPr lang="en-US" dirty="0">
                <a:solidFill>
                  <a:srgbClr val="0000FF"/>
                </a:solidFill>
              </a:rPr>
              <a:t>(s)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5B2F29-B3D5-C1E5-ECB0-A7565637D8BD}"/>
              </a:ext>
            </a:extLst>
          </p:cNvPr>
          <p:cNvSpPr txBox="1"/>
          <p:nvPr/>
        </p:nvSpPr>
        <p:spPr>
          <a:xfrm rot="2607206">
            <a:off x="3620532" y="2775051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EE0000"/>
                </a:solidFill>
              </a:rPr>
              <a:t>τ</a:t>
            </a:r>
            <a:r>
              <a:rPr lang="en-US" baseline="-25000" dirty="0">
                <a:solidFill>
                  <a:srgbClr val="EE0000"/>
                </a:solidFill>
              </a:rPr>
              <a:t>Sol</a:t>
            </a:r>
            <a:r>
              <a:rPr lang="en-US" dirty="0">
                <a:solidFill>
                  <a:srgbClr val="EE0000"/>
                </a:solidFill>
              </a:rPr>
              <a:t>(s)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58CC6B-7591-8C33-8F9F-1F203FF5C176}"/>
              </a:ext>
            </a:extLst>
          </p:cNvPr>
          <p:cNvCxnSpPr>
            <a:cxnSpLocks/>
          </p:cNvCxnSpPr>
          <p:nvPr/>
        </p:nvCxnSpPr>
        <p:spPr>
          <a:xfrm flipH="1">
            <a:off x="6057408" y="1413922"/>
            <a:ext cx="11499" cy="2882069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679DA1EA-7C54-8C0E-984D-D6F6DF0D8C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119" y="851167"/>
            <a:ext cx="5486400" cy="63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1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AA77E-46B9-E5AA-E415-A71275ED3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white, line&#10;&#10;AI-generated content may be incorrect.">
            <a:extLst>
              <a:ext uri="{FF2B5EF4-FFF2-40B4-BE49-F238E27FC236}">
                <a16:creationId xmlns:a16="http://schemas.microsoft.com/office/drawing/2014/main" id="{4B439A69-6CCF-FD90-D789-A6908FC99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" y="2249432"/>
            <a:ext cx="8923451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168D5E-AA86-1EC4-2AD3-2CCD0F56B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What Happens at Point </a:t>
            </a:r>
            <a:r>
              <a:rPr lang="en-US" sz="3000" b="1" dirty="0">
                <a:solidFill>
                  <a:srgbClr val="EE0000"/>
                </a:solidFill>
              </a:rPr>
              <a:t>S</a:t>
            </a:r>
            <a:r>
              <a:rPr lang="en-US" sz="3000" b="1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8CD05F-3815-D0D1-FC32-83FC23E5F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130" y="1419813"/>
            <a:ext cx="552242" cy="5390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2DB2C8-62A8-E71D-67C5-14F7C23CFF52}"/>
              </a:ext>
            </a:extLst>
          </p:cNvPr>
          <p:cNvCxnSpPr>
            <a:cxnSpLocks/>
          </p:cNvCxnSpPr>
          <p:nvPr/>
        </p:nvCxnSpPr>
        <p:spPr>
          <a:xfrm>
            <a:off x="213916" y="4402804"/>
            <a:ext cx="9144000" cy="27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1C22E1B-C730-E561-6939-4E548DFD9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488839">
            <a:off x="9462409" y="4152939"/>
            <a:ext cx="486143" cy="49275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AC8133-1426-7305-C509-987FE226F8C0}"/>
              </a:ext>
            </a:extLst>
          </p:cNvPr>
          <p:cNvCxnSpPr>
            <a:cxnSpLocks/>
          </p:cNvCxnSpPr>
          <p:nvPr/>
        </p:nvCxnSpPr>
        <p:spPr>
          <a:xfrm>
            <a:off x="3218171" y="1875354"/>
            <a:ext cx="2748733" cy="2485235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166424C-BF5D-2D84-30DD-B2F0B6120CE2}"/>
              </a:ext>
            </a:extLst>
          </p:cNvPr>
          <p:cNvSpPr/>
          <p:nvPr/>
        </p:nvSpPr>
        <p:spPr>
          <a:xfrm>
            <a:off x="4454589" y="436058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DB28EC-C517-9023-AFC8-2665B28C33D0}"/>
              </a:ext>
            </a:extLst>
          </p:cNvPr>
          <p:cNvSpPr txBox="1"/>
          <p:nvPr/>
        </p:nvSpPr>
        <p:spPr>
          <a:xfrm>
            <a:off x="9314292" y="6371511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BECFE9-1C04-B97D-ED9A-B70F1D19BE6B}"/>
              </a:ext>
            </a:extLst>
          </p:cNvPr>
          <p:cNvSpPr txBox="1"/>
          <p:nvPr/>
        </p:nvSpPr>
        <p:spPr>
          <a:xfrm>
            <a:off x="8401873" y="4429423"/>
            <a:ext cx="912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LOS</a:t>
            </a:r>
            <a:endParaRPr lang="en-US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8B3762-A17A-60B9-9E1D-2C20A273E496}"/>
              </a:ext>
            </a:extLst>
          </p:cNvPr>
          <p:cNvSpPr txBox="1"/>
          <p:nvPr/>
        </p:nvSpPr>
        <p:spPr>
          <a:xfrm>
            <a:off x="4164884" y="4376410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5DAF2E6-B22E-1762-7CB3-BC98E740EFD3}"/>
              </a:ext>
            </a:extLst>
          </p:cNvPr>
          <p:cNvSpPr/>
          <p:nvPr/>
        </p:nvSpPr>
        <p:spPr>
          <a:xfrm>
            <a:off x="7105780" y="4378951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D405323-D131-D82B-494A-B07701BE3E32}"/>
              </a:ext>
            </a:extLst>
          </p:cNvPr>
          <p:cNvSpPr/>
          <p:nvPr/>
        </p:nvSpPr>
        <p:spPr>
          <a:xfrm>
            <a:off x="7345495" y="4376459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81F21CD-3A9D-12E2-D6F2-7E2B16F7B58D}"/>
              </a:ext>
            </a:extLst>
          </p:cNvPr>
          <p:cNvSpPr/>
          <p:nvPr/>
        </p:nvSpPr>
        <p:spPr>
          <a:xfrm>
            <a:off x="5993061" y="4357358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C7E668-4D53-95DA-04EF-5B2EB756C32D}"/>
              </a:ext>
            </a:extLst>
          </p:cNvPr>
          <p:cNvSpPr txBox="1"/>
          <p:nvPr/>
        </p:nvSpPr>
        <p:spPr>
          <a:xfrm>
            <a:off x="5975878" y="4406309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B4ADDD-CA8E-2272-E948-FBF1CE109576}"/>
              </a:ext>
            </a:extLst>
          </p:cNvPr>
          <p:cNvSpPr txBox="1"/>
          <p:nvPr/>
        </p:nvSpPr>
        <p:spPr>
          <a:xfrm>
            <a:off x="4483733" y="6300266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329843-4476-7C4A-82E2-864EC8904E39}"/>
              </a:ext>
            </a:extLst>
          </p:cNvPr>
          <p:cNvCxnSpPr>
            <a:cxnSpLocks/>
          </p:cNvCxnSpPr>
          <p:nvPr/>
        </p:nvCxnSpPr>
        <p:spPr>
          <a:xfrm>
            <a:off x="8750736" y="6723278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7088F05-DF68-A9A4-FBE6-D0E395FDC14E}"/>
              </a:ext>
            </a:extLst>
          </p:cNvPr>
          <p:cNvCxnSpPr>
            <a:cxnSpLocks/>
          </p:cNvCxnSpPr>
          <p:nvPr/>
        </p:nvCxnSpPr>
        <p:spPr>
          <a:xfrm flipV="1">
            <a:off x="4498022" y="1703605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4308AC8-2285-2E59-7743-D62EB2A0A4D9}"/>
              </a:ext>
            </a:extLst>
          </p:cNvPr>
          <p:cNvSpPr txBox="1"/>
          <p:nvPr/>
        </p:nvSpPr>
        <p:spPr>
          <a:xfrm>
            <a:off x="4522214" y="1572904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B85D0D3-66FF-3646-9F20-ADA47FD3071F}"/>
              </a:ext>
            </a:extLst>
          </p:cNvPr>
          <p:cNvCxnSpPr>
            <a:cxnSpLocks/>
          </p:cNvCxnSpPr>
          <p:nvPr/>
        </p:nvCxnSpPr>
        <p:spPr>
          <a:xfrm>
            <a:off x="6125646" y="4404341"/>
            <a:ext cx="1904027" cy="0"/>
          </a:xfrm>
          <a:prstGeom prst="straightConnector1">
            <a:avLst/>
          </a:prstGeom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73FF77D-DFDC-3101-873A-6D32BD53FA45}"/>
              </a:ext>
            </a:extLst>
          </p:cNvPr>
          <p:cNvSpPr txBox="1"/>
          <p:nvPr/>
        </p:nvSpPr>
        <p:spPr>
          <a:xfrm>
            <a:off x="6578530" y="4505264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0000FF"/>
                </a:solidFill>
              </a:rPr>
              <a:t>τ</a:t>
            </a:r>
            <a:r>
              <a:rPr lang="en-US" baseline="-25000" dirty="0">
                <a:solidFill>
                  <a:srgbClr val="0000FF"/>
                </a:solidFill>
              </a:rPr>
              <a:t>LOS</a:t>
            </a:r>
            <a:r>
              <a:rPr lang="en-US" dirty="0">
                <a:solidFill>
                  <a:srgbClr val="0000FF"/>
                </a:solidFill>
              </a:rPr>
              <a:t>(s)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262C0D-D6D8-A3C6-7E47-8C2A5CB57AF3}"/>
              </a:ext>
            </a:extLst>
          </p:cNvPr>
          <p:cNvSpPr txBox="1"/>
          <p:nvPr/>
        </p:nvSpPr>
        <p:spPr>
          <a:xfrm rot="2607206">
            <a:off x="3620532" y="2775051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EE0000"/>
                </a:solidFill>
              </a:rPr>
              <a:t>τ</a:t>
            </a:r>
            <a:r>
              <a:rPr lang="en-US" baseline="-25000" dirty="0">
                <a:solidFill>
                  <a:srgbClr val="EE0000"/>
                </a:solidFill>
              </a:rPr>
              <a:t>Sol</a:t>
            </a:r>
            <a:r>
              <a:rPr lang="en-US" dirty="0">
                <a:solidFill>
                  <a:srgbClr val="EE0000"/>
                </a:solidFill>
              </a:rPr>
              <a:t>(s)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33DC91-8ED7-CCA4-EC5C-E316F262E766}"/>
              </a:ext>
            </a:extLst>
          </p:cNvPr>
          <p:cNvCxnSpPr>
            <a:cxnSpLocks/>
          </p:cNvCxnSpPr>
          <p:nvPr/>
        </p:nvCxnSpPr>
        <p:spPr>
          <a:xfrm flipH="1">
            <a:off x="6057408" y="1413922"/>
            <a:ext cx="11499" cy="2882069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1BCD270-56DB-2D0A-996F-1610550D5CA7}"/>
              </a:ext>
            </a:extLst>
          </p:cNvPr>
          <p:cNvSpPr txBox="1"/>
          <p:nvPr/>
        </p:nvSpPr>
        <p:spPr>
          <a:xfrm>
            <a:off x="5046503" y="165296"/>
            <a:ext cx="59663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Solar flux per unit area perpendicular to solar beam: Fo = 1</a:t>
            </a:r>
            <a:br>
              <a:rPr lang="en-US" i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1/4</a:t>
            </a:r>
            <a:r>
              <a:rPr lang="el-GR" i="1" dirty="0">
                <a:solidFill>
                  <a:schemeClr val="bg1">
                    <a:lumMod val="75000"/>
                  </a:schemeClr>
                </a:solidFill>
              </a:rPr>
              <a:t>π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 – normalization of the phase function p(s)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2E340F9-6E59-C539-40CD-C07207684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119" y="851167"/>
            <a:ext cx="5486400" cy="63890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468D42-FFCC-0967-04C4-0BD69C7BE343}"/>
              </a:ext>
            </a:extLst>
          </p:cNvPr>
          <p:cNvCxnSpPr>
            <a:cxnSpLocks/>
          </p:cNvCxnSpPr>
          <p:nvPr/>
        </p:nvCxnSpPr>
        <p:spPr>
          <a:xfrm>
            <a:off x="7601439" y="1381794"/>
            <a:ext cx="0" cy="432106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Brace 32">
            <a:extLst>
              <a:ext uri="{FF2B5EF4-FFF2-40B4-BE49-F238E27FC236}">
                <a16:creationId xmlns:a16="http://schemas.microsoft.com/office/drawing/2014/main" id="{2CD55913-FE55-E67B-51FA-D5AADB5E049F}"/>
              </a:ext>
            </a:extLst>
          </p:cNvPr>
          <p:cNvSpPr/>
          <p:nvPr/>
        </p:nvSpPr>
        <p:spPr>
          <a:xfrm rot="5400000">
            <a:off x="7053064" y="1180977"/>
            <a:ext cx="188872" cy="590507"/>
          </a:xfrm>
          <a:prstGeom prst="rightBrace">
            <a:avLst>
              <a:gd name="adj1" fmla="val 28079"/>
              <a:gd name="adj2" fmla="val 51124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6C8693-BBCD-F870-FE94-E6620839A5A5}"/>
              </a:ext>
            </a:extLst>
          </p:cNvPr>
          <p:cNvCxnSpPr>
            <a:cxnSpLocks/>
          </p:cNvCxnSpPr>
          <p:nvPr/>
        </p:nvCxnSpPr>
        <p:spPr>
          <a:xfrm>
            <a:off x="7151500" y="1659301"/>
            <a:ext cx="0" cy="1009473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5D6A702-03D2-7D48-93B8-852AAE521C7E}"/>
              </a:ext>
            </a:extLst>
          </p:cNvPr>
          <p:cNvSpPr txBox="1"/>
          <p:nvPr/>
        </p:nvSpPr>
        <p:spPr>
          <a:xfrm>
            <a:off x="7068395" y="2682325"/>
            <a:ext cx="4951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Scattering optical thickness d</a:t>
            </a:r>
            <a:r>
              <a:rPr lang="el-GR" i="1" dirty="0">
                <a:solidFill>
                  <a:schemeClr val="bg1">
                    <a:lumMod val="75000"/>
                  </a:schemeClr>
                </a:solidFill>
              </a:rPr>
              <a:t>τ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 (unitless)</a:t>
            </a:r>
          </a:p>
        </p:txBody>
      </p:sp>
      <p:pic>
        <p:nvPicPr>
          <p:cNvPr id="46" name="Picture 45" descr="Calendar&#10;&#10;AI-generated content may be incorrect.">
            <a:extLst>
              <a:ext uri="{FF2B5EF4-FFF2-40B4-BE49-F238E27FC236}">
                <a16:creationId xmlns:a16="http://schemas.microsoft.com/office/drawing/2014/main" id="{55411C4A-FFB0-535C-74D3-63D1DD299A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782" y="1663896"/>
            <a:ext cx="4456462" cy="914400"/>
          </a:xfrm>
          <a:prstGeom prst="rect">
            <a:avLst/>
          </a:prstGeom>
        </p:spPr>
      </p:pic>
      <p:pic>
        <p:nvPicPr>
          <p:cNvPr id="50" name="Picture 49" descr="A picture containing chart&#10;&#10;AI-generated content may be incorrect.">
            <a:extLst>
              <a:ext uri="{FF2B5EF4-FFF2-40B4-BE49-F238E27FC236}">
                <a16:creationId xmlns:a16="http://schemas.microsoft.com/office/drawing/2014/main" id="{28E95DB0-E9C0-F5C3-18F6-F1A8C5E983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73" y="3174274"/>
            <a:ext cx="2953958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9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E18F-4BF8-2904-93CD-537C33F8C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F221837-22FD-104E-E714-F4031DCF9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Optical Path of Segment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D200EC8C-097B-22DE-5867-AB31847CB281}"/>
              </a:ext>
            </a:extLst>
          </p:cNvPr>
          <p:cNvSpPr/>
          <p:nvPr/>
        </p:nvSpPr>
        <p:spPr>
          <a:xfrm>
            <a:off x="-5486400" y="1371600"/>
            <a:ext cx="10972800" cy="10972800"/>
          </a:xfrm>
          <a:prstGeom prst="arc">
            <a:avLst>
              <a:gd name="adj1" fmla="val 16200000"/>
              <a:gd name="adj2" fmla="val 2159271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869E2515-22FA-928C-0D58-644DC91D51D1}"/>
              </a:ext>
            </a:extLst>
          </p:cNvPr>
          <p:cNvSpPr/>
          <p:nvPr/>
        </p:nvSpPr>
        <p:spPr>
          <a:xfrm>
            <a:off x="-4572000" y="2270083"/>
            <a:ext cx="9144000" cy="9144000"/>
          </a:xfrm>
          <a:prstGeom prst="arc">
            <a:avLst>
              <a:gd name="adj1" fmla="val 16200000"/>
              <a:gd name="adj2" fmla="val 2159271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9E05C74-747D-D704-4F70-7C7007D8EA79}"/>
              </a:ext>
            </a:extLst>
          </p:cNvPr>
          <p:cNvSpPr/>
          <p:nvPr/>
        </p:nvSpPr>
        <p:spPr>
          <a:xfrm>
            <a:off x="2756539" y="2691277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B85C8-14F0-0C83-17CF-34F11F864ACA}"/>
              </a:ext>
            </a:extLst>
          </p:cNvPr>
          <p:cNvSpPr txBox="1"/>
          <p:nvPr/>
        </p:nvSpPr>
        <p:spPr>
          <a:xfrm>
            <a:off x="82789" y="1835536"/>
            <a:ext cx="1796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ε</a:t>
            </a:r>
            <a:r>
              <a:rPr lang="en-US" dirty="0"/>
              <a:t> =</a:t>
            </a:r>
            <a:r>
              <a:rPr lang="en-US" dirty="0">
                <a:solidFill>
                  <a:schemeClr val="accent5"/>
                </a:solidFill>
              </a:rPr>
              <a:t>a</a:t>
            </a:r>
            <a:r>
              <a:rPr lang="en-US" dirty="0"/>
              <a:t> </a:t>
            </a:r>
            <a:r>
              <a:rPr lang="en-US" i="1" dirty="0"/>
              <a:t>r </a:t>
            </a:r>
            <a:r>
              <a:rPr lang="en-US" dirty="0"/>
              <a:t>+ </a:t>
            </a:r>
            <a:r>
              <a:rPr lang="en-US" dirty="0">
                <a:solidFill>
                  <a:schemeClr val="accent5"/>
                </a:solidFill>
              </a:rPr>
              <a:t>b</a:t>
            </a:r>
            <a:r>
              <a:rPr lang="en-US" dirty="0"/>
              <a:t> ( km</a:t>
            </a:r>
            <a:r>
              <a:rPr lang="en-US" baseline="30000" dirty="0"/>
              <a:t>-1 </a:t>
            </a:r>
            <a:r>
              <a:rPr lang="en-US" dirty="0"/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6FA32-3287-AA5E-60EE-6FEF3FDBCF63}"/>
              </a:ext>
            </a:extLst>
          </p:cNvPr>
          <p:cNvSpPr txBox="1"/>
          <p:nvPr/>
        </p:nvSpPr>
        <p:spPr>
          <a:xfrm>
            <a:off x="2270515" y="2250527"/>
            <a:ext cx="13848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P (</a:t>
            </a:r>
            <a:r>
              <a:rPr lang="en-US" i="1" dirty="0" err="1"/>
              <a:t>x</a:t>
            </a:r>
            <a:r>
              <a:rPr lang="en-US" baseline="-25000" dirty="0" err="1"/>
              <a:t>p</a:t>
            </a:r>
            <a:r>
              <a:rPr lang="en-US" dirty="0"/>
              <a:t>, </a:t>
            </a:r>
            <a:r>
              <a:rPr lang="en-US" i="1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, </a:t>
            </a:r>
            <a:r>
              <a:rPr lang="en-US" i="1" dirty="0" err="1"/>
              <a:t>z</a:t>
            </a:r>
            <a:r>
              <a:rPr lang="en-US" baseline="-25000" dirty="0" err="1"/>
              <a:t>p</a:t>
            </a:r>
            <a:r>
              <a:rPr lang="en-US" dirty="0"/>
              <a:t>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185885-B293-1D2C-DF01-958A99C36F4D}"/>
              </a:ext>
            </a:extLst>
          </p:cNvPr>
          <p:cNvCxnSpPr>
            <a:cxnSpLocks/>
          </p:cNvCxnSpPr>
          <p:nvPr/>
        </p:nvCxnSpPr>
        <p:spPr>
          <a:xfrm flipV="1">
            <a:off x="0" y="1770321"/>
            <a:ext cx="1961707" cy="507176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14028C-DD6C-6948-3B81-A56027FCED60}"/>
              </a:ext>
            </a:extLst>
          </p:cNvPr>
          <p:cNvSpPr txBox="1"/>
          <p:nvPr/>
        </p:nvSpPr>
        <p:spPr>
          <a:xfrm>
            <a:off x="1796128" y="2055297"/>
            <a:ext cx="302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r</a:t>
            </a:r>
            <a:endParaRPr lang="en-US" i="1" baseline="-25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03282E3-E51B-815C-C7E4-04C355923611}"/>
              </a:ext>
            </a:extLst>
          </p:cNvPr>
          <p:cNvSpPr/>
          <p:nvPr/>
        </p:nvSpPr>
        <p:spPr>
          <a:xfrm>
            <a:off x="4493731" y="4667162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FFD0E8-2102-5A65-D8D3-23FC08D82225}"/>
              </a:ext>
            </a:extLst>
          </p:cNvPr>
          <p:cNvCxnSpPr>
            <a:cxnSpLocks/>
          </p:cNvCxnSpPr>
          <p:nvPr/>
        </p:nvCxnSpPr>
        <p:spPr>
          <a:xfrm>
            <a:off x="2806993" y="2736997"/>
            <a:ext cx="1718634" cy="195674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05EFC34-043C-A854-3A75-2872A4ADB4FE}"/>
              </a:ext>
            </a:extLst>
          </p:cNvPr>
          <p:cNvSpPr txBox="1"/>
          <p:nvPr/>
        </p:nvSpPr>
        <p:spPr>
          <a:xfrm>
            <a:off x="4016400" y="4810880"/>
            <a:ext cx="13848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Q (</a:t>
            </a:r>
            <a:r>
              <a:rPr lang="en-US" i="1" dirty="0" err="1"/>
              <a:t>x</a:t>
            </a:r>
            <a:r>
              <a:rPr lang="en-US" i="1" baseline="-25000" dirty="0" err="1"/>
              <a:t>q</a:t>
            </a:r>
            <a:r>
              <a:rPr lang="en-US" dirty="0"/>
              <a:t>, </a:t>
            </a:r>
            <a:r>
              <a:rPr lang="en-US" i="1" dirty="0" err="1"/>
              <a:t>y</a:t>
            </a:r>
            <a:r>
              <a:rPr lang="en-US" i="1" baseline="-25000" dirty="0" err="1"/>
              <a:t>q</a:t>
            </a:r>
            <a:r>
              <a:rPr lang="en-US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q</a:t>
            </a:r>
            <a:r>
              <a:rPr lang="en-US" dirty="0"/>
              <a:t>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187AF81-82A1-2458-398F-BC802A994011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0" y="2769326"/>
            <a:ext cx="2769930" cy="4088674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AB6C4F3-693D-AAFA-4A1C-11F96F56B6C0}"/>
              </a:ext>
            </a:extLst>
          </p:cNvPr>
          <p:cNvSpPr txBox="1"/>
          <p:nvPr/>
        </p:nvSpPr>
        <p:spPr>
          <a:xfrm>
            <a:off x="1661082" y="3636734"/>
            <a:ext cx="43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/>
              <a:t>r</a:t>
            </a:r>
            <a:r>
              <a:rPr lang="en-US" i="1" baseline="-25000" dirty="0" err="1"/>
              <a:t>p</a:t>
            </a:r>
            <a:endParaRPr lang="en-US" i="1" baseline="-25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BB9ABE-0332-4051-AFA3-A488F0530B7E}"/>
              </a:ext>
            </a:extLst>
          </p:cNvPr>
          <p:cNvCxnSpPr>
            <a:cxnSpLocks/>
          </p:cNvCxnSpPr>
          <p:nvPr/>
        </p:nvCxnSpPr>
        <p:spPr>
          <a:xfrm flipV="1">
            <a:off x="-13171" y="4075284"/>
            <a:ext cx="3944414" cy="2782716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DF210F-DA48-027E-DCBD-5017DB7E2425}"/>
              </a:ext>
            </a:extLst>
          </p:cNvPr>
          <p:cNvSpPr txBox="1"/>
          <p:nvPr/>
        </p:nvSpPr>
        <p:spPr>
          <a:xfrm>
            <a:off x="2320869" y="5097310"/>
            <a:ext cx="43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r>
              <a:rPr lang="en-US" i="1" baseline="-25000" dirty="0"/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CB3E1D-B5CE-41A3-58B9-00E5BDA8F620}"/>
              </a:ext>
            </a:extLst>
          </p:cNvPr>
          <p:cNvSpPr txBox="1"/>
          <p:nvPr/>
        </p:nvSpPr>
        <p:spPr>
          <a:xfrm>
            <a:off x="3910194" y="3772405"/>
            <a:ext cx="43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  <a:endParaRPr lang="en-US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43F893-1654-7BBE-BBF2-B7AE40FF9768}"/>
              </a:ext>
            </a:extLst>
          </p:cNvPr>
          <p:cNvSpPr txBox="1"/>
          <p:nvPr/>
        </p:nvSpPr>
        <p:spPr>
          <a:xfrm>
            <a:off x="4880808" y="355937"/>
            <a:ext cx="72284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 – start point (known)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 – end point (known); </a:t>
            </a:r>
            <a:r>
              <a:rPr lang="en-US" dirty="0">
                <a:solidFill>
                  <a:srgbClr val="EE0000"/>
                </a:solidFill>
              </a:rPr>
              <a:t>must share optical layer with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</a:rPr>
              <a:t>l</a:t>
            </a:r>
            <a:r>
              <a:rPr lang="en-US" dirty="0"/>
              <a:t> = </a:t>
            </a:r>
            <a:r>
              <a:rPr lang="en-US" b="1" dirty="0"/>
              <a:t>PQ</a:t>
            </a:r>
            <a:r>
              <a:rPr lang="en-US" dirty="0"/>
              <a:t> – unit direction vector (note </a:t>
            </a:r>
            <a:r>
              <a:rPr lang="en-US" b="1" dirty="0"/>
              <a:t>bold</a:t>
            </a:r>
            <a:r>
              <a:rPr lang="en-US" dirty="0"/>
              <a:t> font)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 – distance between P &amp; 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 – arbitrary point between P &amp; Q, </a:t>
            </a:r>
            <a:r>
              <a:rPr lang="en-US" i="1" dirty="0">
                <a:solidFill>
                  <a:srgbClr val="0000FF"/>
                </a:solidFill>
              </a:rPr>
              <a:t>s</a:t>
            </a:r>
            <a:r>
              <a:rPr lang="en-US" dirty="0"/>
              <a:t> – distance from P to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vectors: </a:t>
            </a:r>
            <a:r>
              <a:rPr lang="en-US" b="1" dirty="0"/>
              <a:t>OS</a:t>
            </a:r>
            <a:r>
              <a:rPr lang="en-US" dirty="0"/>
              <a:t> = </a:t>
            </a:r>
            <a:r>
              <a:rPr lang="en-US" b="1" dirty="0"/>
              <a:t>OP</a:t>
            </a:r>
            <a:r>
              <a:rPr lang="en-US" dirty="0"/>
              <a:t> + </a:t>
            </a:r>
            <a:r>
              <a:rPr lang="en-US" b="1" dirty="0"/>
              <a:t>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42FB98-EF71-71F4-0FD4-A849DB804BF3}"/>
              </a:ext>
            </a:extLst>
          </p:cNvPr>
          <p:cNvSpPr txBox="1"/>
          <p:nvPr/>
        </p:nvSpPr>
        <p:spPr>
          <a:xfrm>
            <a:off x="380537" y="6474384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F7844D-0A3F-4631-D391-169185C25F88}"/>
              </a:ext>
            </a:extLst>
          </p:cNvPr>
          <p:cNvSpPr txBox="1"/>
          <p:nvPr/>
        </p:nvSpPr>
        <p:spPr>
          <a:xfrm>
            <a:off x="3495573" y="3220400"/>
            <a:ext cx="43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s</a:t>
            </a:r>
          </a:p>
        </p:txBody>
      </p:sp>
      <p:pic>
        <p:nvPicPr>
          <p:cNvPr id="25" name="Picture 24" descr="A picture containing graphical user interface&#10;&#10;AI-generated content may be incorrect.">
            <a:extLst>
              <a:ext uri="{FF2B5EF4-FFF2-40B4-BE49-F238E27FC236}">
                <a16:creationId xmlns:a16="http://schemas.microsoft.com/office/drawing/2014/main" id="{32BDAD85-E09D-A691-0452-3C2FA9657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2" y="2289798"/>
            <a:ext cx="3940604" cy="235269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47AA760-180E-2617-7245-4CBC79AC2A35}"/>
              </a:ext>
            </a:extLst>
          </p:cNvPr>
          <p:cNvSpPr txBox="1"/>
          <p:nvPr/>
        </p:nvSpPr>
        <p:spPr>
          <a:xfrm>
            <a:off x="5538122" y="4826173"/>
            <a:ext cx="5685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Optical path of the segment PQ:</a:t>
            </a:r>
            <a:endParaRPr lang="en-US" b="1" dirty="0"/>
          </a:p>
        </p:txBody>
      </p:sp>
      <p:pic>
        <p:nvPicPr>
          <p:cNvPr id="29" name="Picture 28" descr="Graphical user interface&#10;&#10;AI-generated content may be incorrect.">
            <a:extLst>
              <a:ext uri="{FF2B5EF4-FFF2-40B4-BE49-F238E27FC236}">
                <a16:creationId xmlns:a16="http://schemas.microsoft.com/office/drawing/2014/main" id="{64E392A6-FDDA-02AD-6ADC-EDF353971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995" y="5333616"/>
            <a:ext cx="424155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61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272E7-5CCA-BAD6-BE2D-5947822F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84CEE9-C8BB-9EFD-EDE8-86EDD24F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Optical Path of Segment: </a:t>
            </a:r>
            <a:r>
              <a:rPr lang="en-US" sz="3000" b="1" dirty="0">
                <a:solidFill>
                  <a:srgbClr val="0000FF"/>
                </a:solidFill>
              </a:rPr>
              <a:t>Analytical Antiderivative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C2FF3D53-D743-4B4A-702E-9582793DDA67}"/>
              </a:ext>
            </a:extLst>
          </p:cNvPr>
          <p:cNvSpPr/>
          <p:nvPr/>
        </p:nvSpPr>
        <p:spPr>
          <a:xfrm>
            <a:off x="-5486400" y="1371600"/>
            <a:ext cx="10972800" cy="10972800"/>
          </a:xfrm>
          <a:prstGeom prst="arc">
            <a:avLst>
              <a:gd name="adj1" fmla="val 16200000"/>
              <a:gd name="adj2" fmla="val 2159271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82CB0691-8EA3-7CAE-9305-324BA3CA1296}"/>
              </a:ext>
            </a:extLst>
          </p:cNvPr>
          <p:cNvSpPr/>
          <p:nvPr/>
        </p:nvSpPr>
        <p:spPr>
          <a:xfrm>
            <a:off x="-4572000" y="2270083"/>
            <a:ext cx="9144000" cy="9144000"/>
          </a:xfrm>
          <a:prstGeom prst="arc">
            <a:avLst>
              <a:gd name="adj1" fmla="val 16200000"/>
              <a:gd name="adj2" fmla="val 2159271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1E6FBC-0F20-64CC-1EB6-5B9E9904C9F2}"/>
              </a:ext>
            </a:extLst>
          </p:cNvPr>
          <p:cNvSpPr/>
          <p:nvPr/>
        </p:nvSpPr>
        <p:spPr>
          <a:xfrm>
            <a:off x="2756539" y="2691277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863C4-4C8E-03B0-4B39-D431EC79E79C}"/>
              </a:ext>
            </a:extLst>
          </p:cNvPr>
          <p:cNvSpPr txBox="1"/>
          <p:nvPr/>
        </p:nvSpPr>
        <p:spPr>
          <a:xfrm>
            <a:off x="82789" y="1835536"/>
            <a:ext cx="1796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ε</a:t>
            </a:r>
            <a:r>
              <a:rPr lang="en-US" dirty="0"/>
              <a:t> =</a:t>
            </a:r>
            <a:r>
              <a:rPr lang="en-US" dirty="0">
                <a:solidFill>
                  <a:schemeClr val="accent5"/>
                </a:solidFill>
              </a:rPr>
              <a:t>a</a:t>
            </a:r>
            <a:r>
              <a:rPr lang="en-US" dirty="0"/>
              <a:t> </a:t>
            </a:r>
            <a:r>
              <a:rPr lang="en-US" i="1" dirty="0"/>
              <a:t>r </a:t>
            </a:r>
            <a:r>
              <a:rPr lang="en-US" dirty="0"/>
              <a:t>+ </a:t>
            </a:r>
            <a:r>
              <a:rPr lang="en-US" dirty="0">
                <a:solidFill>
                  <a:schemeClr val="accent5"/>
                </a:solidFill>
              </a:rPr>
              <a:t>b</a:t>
            </a:r>
            <a:r>
              <a:rPr lang="en-US" dirty="0"/>
              <a:t> ( km</a:t>
            </a:r>
            <a:r>
              <a:rPr lang="en-US" baseline="30000" dirty="0"/>
              <a:t>-1 </a:t>
            </a:r>
            <a:r>
              <a:rPr lang="en-US" dirty="0"/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44A384-AEF2-C051-37E1-B15CC759BEE2}"/>
              </a:ext>
            </a:extLst>
          </p:cNvPr>
          <p:cNvSpPr txBox="1"/>
          <p:nvPr/>
        </p:nvSpPr>
        <p:spPr>
          <a:xfrm>
            <a:off x="2270515" y="2250527"/>
            <a:ext cx="13848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P (</a:t>
            </a:r>
            <a:r>
              <a:rPr lang="en-US" i="1" dirty="0" err="1"/>
              <a:t>x</a:t>
            </a:r>
            <a:r>
              <a:rPr lang="en-US" baseline="-25000" dirty="0" err="1"/>
              <a:t>p</a:t>
            </a:r>
            <a:r>
              <a:rPr lang="en-US" dirty="0"/>
              <a:t>, </a:t>
            </a:r>
            <a:r>
              <a:rPr lang="en-US" i="1" dirty="0" err="1"/>
              <a:t>y</a:t>
            </a:r>
            <a:r>
              <a:rPr lang="en-US" baseline="-25000" dirty="0" err="1"/>
              <a:t>p</a:t>
            </a:r>
            <a:r>
              <a:rPr lang="en-US" dirty="0"/>
              <a:t>, </a:t>
            </a:r>
            <a:r>
              <a:rPr lang="en-US" i="1" dirty="0" err="1"/>
              <a:t>z</a:t>
            </a:r>
            <a:r>
              <a:rPr lang="en-US" baseline="-25000" dirty="0" err="1"/>
              <a:t>p</a:t>
            </a:r>
            <a:r>
              <a:rPr lang="en-US" dirty="0"/>
              <a:t>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01E6E2-ECD2-3F04-D008-0418B0FBCA94}"/>
              </a:ext>
            </a:extLst>
          </p:cNvPr>
          <p:cNvCxnSpPr>
            <a:cxnSpLocks/>
          </p:cNvCxnSpPr>
          <p:nvPr/>
        </p:nvCxnSpPr>
        <p:spPr>
          <a:xfrm flipV="1">
            <a:off x="0" y="1770321"/>
            <a:ext cx="1961707" cy="5071762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2CD7B45-560D-7CB3-3AE6-9CE74D5BBA5A}"/>
              </a:ext>
            </a:extLst>
          </p:cNvPr>
          <p:cNvSpPr txBox="1"/>
          <p:nvPr/>
        </p:nvSpPr>
        <p:spPr>
          <a:xfrm>
            <a:off x="1796128" y="2055297"/>
            <a:ext cx="302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r</a:t>
            </a:r>
            <a:endParaRPr lang="en-US" i="1" baseline="-25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B2AC47A-A13A-8A29-F2D9-00A876556E48}"/>
              </a:ext>
            </a:extLst>
          </p:cNvPr>
          <p:cNvSpPr/>
          <p:nvPr/>
        </p:nvSpPr>
        <p:spPr>
          <a:xfrm>
            <a:off x="4493731" y="4667162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542EF9C-12BE-CE4C-B09D-2F194E1CB7DC}"/>
              </a:ext>
            </a:extLst>
          </p:cNvPr>
          <p:cNvCxnSpPr>
            <a:cxnSpLocks/>
          </p:cNvCxnSpPr>
          <p:nvPr/>
        </p:nvCxnSpPr>
        <p:spPr>
          <a:xfrm>
            <a:off x="2806993" y="2736997"/>
            <a:ext cx="1718634" cy="195674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BB61E4E-5529-0031-C85E-7B1DCC899EFE}"/>
              </a:ext>
            </a:extLst>
          </p:cNvPr>
          <p:cNvSpPr txBox="1"/>
          <p:nvPr/>
        </p:nvSpPr>
        <p:spPr>
          <a:xfrm>
            <a:off x="4016400" y="4810880"/>
            <a:ext cx="13848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Q (</a:t>
            </a:r>
            <a:r>
              <a:rPr lang="en-US" i="1" dirty="0" err="1"/>
              <a:t>x</a:t>
            </a:r>
            <a:r>
              <a:rPr lang="en-US" i="1" baseline="-25000" dirty="0" err="1"/>
              <a:t>q</a:t>
            </a:r>
            <a:r>
              <a:rPr lang="en-US" dirty="0"/>
              <a:t>, </a:t>
            </a:r>
            <a:r>
              <a:rPr lang="en-US" i="1" dirty="0" err="1"/>
              <a:t>y</a:t>
            </a:r>
            <a:r>
              <a:rPr lang="en-US" i="1" baseline="-25000" dirty="0" err="1"/>
              <a:t>q</a:t>
            </a:r>
            <a:r>
              <a:rPr lang="en-US" dirty="0"/>
              <a:t>, </a:t>
            </a:r>
            <a:r>
              <a:rPr lang="en-US" i="1" dirty="0" err="1"/>
              <a:t>z</a:t>
            </a:r>
            <a:r>
              <a:rPr lang="en-US" i="1" baseline="-25000" dirty="0" err="1"/>
              <a:t>q</a:t>
            </a:r>
            <a:r>
              <a:rPr lang="en-US" dirty="0"/>
              <a:t>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9CDC30-8765-89C6-DB87-49DEDECC2370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0" y="2769326"/>
            <a:ext cx="2769930" cy="4088674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23022F1-CDCA-6F45-6370-6FD359C0CED4}"/>
              </a:ext>
            </a:extLst>
          </p:cNvPr>
          <p:cNvSpPr txBox="1"/>
          <p:nvPr/>
        </p:nvSpPr>
        <p:spPr>
          <a:xfrm>
            <a:off x="1661082" y="3636734"/>
            <a:ext cx="43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/>
              <a:t>r</a:t>
            </a:r>
            <a:r>
              <a:rPr lang="en-US" i="1" baseline="-25000" dirty="0" err="1"/>
              <a:t>p</a:t>
            </a:r>
            <a:endParaRPr lang="en-US" i="1" baseline="-25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CCB9D2-3A91-0F17-F075-0777F7A36650}"/>
              </a:ext>
            </a:extLst>
          </p:cNvPr>
          <p:cNvCxnSpPr>
            <a:cxnSpLocks/>
          </p:cNvCxnSpPr>
          <p:nvPr/>
        </p:nvCxnSpPr>
        <p:spPr>
          <a:xfrm flipV="1">
            <a:off x="-13171" y="4075284"/>
            <a:ext cx="3944414" cy="2782716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68CE910-6299-C016-3369-B6441D5B0DB8}"/>
              </a:ext>
            </a:extLst>
          </p:cNvPr>
          <p:cNvSpPr txBox="1"/>
          <p:nvPr/>
        </p:nvSpPr>
        <p:spPr>
          <a:xfrm>
            <a:off x="2320869" y="5097310"/>
            <a:ext cx="43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r>
              <a:rPr lang="en-US" i="1" baseline="-25000" dirty="0"/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14653B-FFE3-4031-F89C-C1C3611527B4}"/>
              </a:ext>
            </a:extLst>
          </p:cNvPr>
          <p:cNvSpPr txBox="1"/>
          <p:nvPr/>
        </p:nvSpPr>
        <p:spPr>
          <a:xfrm>
            <a:off x="3910194" y="3772405"/>
            <a:ext cx="43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  <a:endParaRPr lang="en-US" baseline="-25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FCB77C-5A70-4844-3E56-5EBF1C8EF077}"/>
              </a:ext>
            </a:extLst>
          </p:cNvPr>
          <p:cNvSpPr txBox="1"/>
          <p:nvPr/>
        </p:nvSpPr>
        <p:spPr>
          <a:xfrm>
            <a:off x="380537" y="6474384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28F72-5A6D-CD69-725B-22F952678C73}"/>
              </a:ext>
            </a:extLst>
          </p:cNvPr>
          <p:cNvSpPr txBox="1"/>
          <p:nvPr/>
        </p:nvSpPr>
        <p:spPr>
          <a:xfrm>
            <a:off x="3495573" y="3220400"/>
            <a:ext cx="435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s</a:t>
            </a:r>
          </a:p>
        </p:txBody>
      </p:sp>
      <p:pic>
        <p:nvPicPr>
          <p:cNvPr id="29" name="Picture 28" descr="Graphical user interface&#10;&#10;AI-generated content may be incorrect.">
            <a:extLst>
              <a:ext uri="{FF2B5EF4-FFF2-40B4-BE49-F238E27FC236}">
                <a16:creationId xmlns:a16="http://schemas.microsoft.com/office/drawing/2014/main" id="{4CCBECFB-AD9E-3FC9-67AE-B2C6DC083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441" y="1124918"/>
            <a:ext cx="4241559" cy="1371600"/>
          </a:xfrm>
          <a:prstGeom prst="rect">
            <a:avLst/>
          </a:prstGeom>
        </p:spPr>
      </p:pic>
      <p:pic>
        <p:nvPicPr>
          <p:cNvPr id="4" name="Picture 3" descr="Tables Integrals Mathematical Data by Dwight - AbeBooks">
            <a:extLst>
              <a:ext uri="{FF2B5EF4-FFF2-40B4-BE49-F238E27FC236}">
                <a16:creationId xmlns:a16="http://schemas.microsoft.com/office/drawing/2014/main" id="{48815EB3-88EB-080D-6BCE-E19C6579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771" y="15786"/>
            <a:ext cx="1651259" cy="2548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6DB727-DB95-D57B-0B87-7988D48DA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551" y="1034258"/>
            <a:ext cx="986899" cy="14907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21102F-681F-3DBA-5845-B3E7E652790B}"/>
              </a:ext>
            </a:extLst>
          </p:cNvPr>
          <p:cNvSpPr txBox="1"/>
          <p:nvPr/>
        </p:nvSpPr>
        <p:spPr>
          <a:xfrm>
            <a:off x="4902219" y="3059668"/>
            <a:ext cx="7049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Antiderivative (</a:t>
            </a:r>
            <a:r>
              <a:rPr lang="en-US" dirty="0">
                <a:solidFill>
                  <a:schemeClr val="accent5"/>
                </a:solidFill>
              </a:rPr>
              <a:t>including a special case</a:t>
            </a:r>
            <a:r>
              <a:rPr lang="en-US" dirty="0"/>
              <a:t>, differ from RL’s ) </a:t>
            </a:r>
            <a:endParaRPr lang="en-US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A5A219-2AD8-6260-BD2C-04D28C35E0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707" y="3679841"/>
            <a:ext cx="5486400" cy="130030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F93F806-A51B-77B3-D14D-5E0D411DEB98}"/>
              </a:ext>
            </a:extLst>
          </p:cNvPr>
          <p:cNvSpPr txBox="1"/>
          <p:nvPr/>
        </p:nvSpPr>
        <p:spPr>
          <a:xfrm>
            <a:off x="6533707" y="5363750"/>
            <a:ext cx="4296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Final solution</a:t>
            </a:r>
            <a:r>
              <a:rPr lang="en-US" dirty="0"/>
              <a:t>: </a:t>
            </a:r>
            <a:r>
              <a:rPr lang="el-GR" dirty="0"/>
              <a:t>τ</a:t>
            </a:r>
            <a:r>
              <a:rPr lang="en-US" dirty="0"/>
              <a:t> = </a:t>
            </a:r>
            <a:r>
              <a:rPr lang="en-US" i="1" dirty="0">
                <a:solidFill>
                  <a:srgbClr val="EE0000"/>
                </a:solidFill>
              </a:rPr>
              <a:t>a</a:t>
            </a:r>
            <a:r>
              <a:rPr lang="en-US" i="1" dirty="0"/>
              <a:t> </a:t>
            </a:r>
            <a:r>
              <a:rPr lang="en-US" dirty="0"/>
              <a:t>[ F(L) – F(0) ] + </a:t>
            </a:r>
            <a:r>
              <a:rPr lang="en-US" i="1" dirty="0">
                <a:solidFill>
                  <a:srgbClr val="EE0000"/>
                </a:solidFill>
              </a:rPr>
              <a:t>b</a:t>
            </a:r>
            <a:r>
              <a:rPr lang="en-US" dirty="0"/>
              <a:t> L</a:t>
            </a:r>
            <a:endParaRPr lang="en-US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1BE049-915F-72EA-CC7A-08E25B3DC2A5}"/>
              </a:ext>
            </a:extLst>
          </p:cNvPr>
          <p:cNvSpPr txBox="1"/>
          <p:nvPr/>
        </p:nvSpPr>
        <p:spPr>
          <a:xfrm>
            <a:off x="6533707" y="6045295"/>
            <a:ext cx="5418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optical layers (with fixed interpolation </a:t>
            </a:r>
            <a:r>
              <a:rPr lang="en-US" dirty="0" err="1"/>
              <a:t>coefs</a:t>
            </a:r>
            <a:r>
              <a:rPr lang="en-US" dirty="0"/>
              <a:t> </a:t>
            </a:r>
            <a:r>
              <a:rPr lang="en-US" i="1" dirty="0">
                <a:solidFill>
                  <a:srgbClr val="EE0000"/>
                </a:solidFill>
              </a:rPr>
              <a:t>a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>
                <a:solidFill>
                  <a:srgbClr val="EE0000"/>
                </a:solidFill>
              </a:rPr>
              <a:t>b</a:t>
            </a:r>
            <a:r>
              <a:rPr lang="en-US" dirty="0"/>
              <a:t> ) one by one adding up the results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2467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C46B5-21B5-BE56-633A-FD4032123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white, line&#10;&#10;AI-generated content may be incorrect.">
            <a:extLst>
              <a:ext uri="{FF2B5EF4-FFF2-40B4-BE49-F238E27FC236}">
                <a16:creationId xmlns:a16="http://schemas.microsoft.com/office/drawing/2014/main" id="{79868081-25CB-2F4C-6CDF-0F4A72BC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" y="2249432"/>
            <a:ext cx="8923451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653AFD-87B2-E2CE-5D78-73B30D461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Optical Path along LOS: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36F02D-AA24-6E5E-6998-1294ACCD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130" y="1419813"/>
            <a:ext cx="552242" cy="5390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8197EC-4C5E-A6C5-9A81-67D82E3333A0}"/>
              </a:ext>
            </a:extLst>
          </p:cNvPr>
          <p:cNvCxnSpPr>
            <a:cxnSpLocks/>
          </p:cNvCxnSpPr>
          <p:nvPr/>
        </p:nvCxnSpPr>
        <p:spPr>
          <a:xfrm>
            <a:off x="213916" y="4402804"/>
            <a:ext cx="9144000" cy="27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28EAC82-6005-3CC7-51D4-8F22DAD94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488839">
            <a:off x="9462409" y="4152939"/>
            <a:ext cx="486143" cy="49275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068A96-83E3-5E7C-2DA4-F4D880EADDD1}"/>
              </a:ext>
            </a:extLst>
          </p:cNvPr>
          <p:cNvCxnSpPr>
            <a:cxnSpLocks/>
          </p:cNvCxnSpPr>
          <p:nvPr/>
        </p:nvCxnSpPr>
        <p:spPr>
          <a:xfrm>
            <a:off x="3218171" y="1875354"/>
            <a:ext cx="2748733" cy="2485235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3B686A7-4659-B3F9-88FC-29AB4A338B74}"/>
              </a:ext>
            </a:extLst>
          </p:cNvPr>
          <p:cNvSpPr/>
          <p:nvPr/>
        </p:nvSpPr>
        <p:spPr>
          <a:xfrm>
            <a:off x="4454589" y="436058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885B14-AE9C-196B-CD16-B3E935589641}"/>
              </a:ext>
            </a:extLst>
          </p:cNvPr>
          <p:cNvSpPr txBox="1"/>
          <p:nvPr/>
        </p:nvSpPr>
        <p:spPr>
          <a:xfrm>
            <a:off x="9314292" y="6371511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FF7A7F-E2EE-490B-0A3A-4BF5694B57E7}"/>
              </a:ext>
            </a:extLst>
          </p:cNvPr>
          <p:cNvSpPr txBox="1"/>
          <p:nvPr/>
        </p:nvSpPr>
        <p:spPr>
          <a:xfrm>
            <a:off x="8401873" y="4429423"/>
            <a:ext cx="912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LOS</a:t>
            </a:r>
            <a:endParaRPr lang="en-US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62E2BF-64B3-FCEC-231C-D2AFB08E61F8}"/>
              </a:ext>
            </a:extLst>
          </p:cNvPr>
          <p:cNvSpPr txBox="1"/>
          <p:nvPr/>
        </p:nvSpPr>
        <p:spPr>
          <a:xfrm>
            <a:off x="4164884" y="4376410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BD7C5C3-D05A-1C9E-807E-F770D4B9E8FF}"/>
              </a:ext>
            </a:extLst>
          </p:cNvPr>
          <p:cNvSpPr/>
          <p:nvPr/>
        </p:nvSpPr>
        <p:spPr>
          <a:xfrm>
            <a:off x="8032185" y="4383449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6D50965-0DEC-B4A9-B161-85D3089E6E42}"/>
              </a:ext>
            </a:extLst>
          </p:cNvPr>
          <p:cNvSpPr/>
          <p:nvPr/>
        </p:nvSpPr>
        <p:spPr>
          <a:xfrm>
            <a:off x="5993061" y="4357358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D24127-0E4E-E1E1-E52F-248D714A2E4B}"/>
              </a:ext>
            </a:extLst>
          </p:cNvPr>
          <p:cNvSpPr txBox="1"/>
          <p:nvPr/>
        </p:nvSpPr>
        <p:spPr>
          <a:xfrm>
            <a:off x="5975878" y="4406309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DBAEDD-08B1-2EDE-BB8F-F75DFEAC511C}"/>
              </a:ext>
            </a:extLst>
          </p:cNvPr>
          <p:cNvSpPr txBox="1"/>
          <p:nvPr/>
        </p:nvSpPr>
        <p:spPr>
          <a:xfrm>
            <a:off x="4483733" y="6300266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020C6F-4230-E2AB-059A-5E800AEF0075}"/>
              </a:ext>
            </a:extLst>
          </p:cNvPr>
          <p:cNvCxnSpPr>
            <a:cxnSpLocks/>
          </p:cNvCxnSpPr>
          <p:nvPr/>
        </p:nvCxnSpPr>
        <p:spPr>
          <a:xfrm>
            <a:off x="8750736" y="6723278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0D4496C-A8EA-AB71-07F8-1A3186ED4E41}"/>
              </a:ext>
            </a:extLst>
          </p:cNvPr>
          <p:cNvCxnSpPr>
            <a:cxnSpLocks/>
          </p:cNvCxnSpPr>
          <p:nvPr/>
        </p:nvCxnSpPr>
        <p:spPr>
          <a:xfrm flipV="1">
            <a:off x="4498022" y="1703605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9DD05DB-5B0C-AA6E-EAA9-4435092DFBF2}"/>
              </a:ext>
            </a:extLst>
          </p:cNvPr>
          <p:cNvSpPr txBox="1"/>
          <p:nvPr/>
        </p:nvSpPr>
        <p:spPr>
          <a:xfrm>
            <a:off x="4522214" y="1572904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7C30027-071D-957E-ACAF-A7AC3CB9107E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6094635" y="4399317"/>
            <a:ext cx="1937550" cy="6992"/>
          </a:xfrm>
          <a:prstGeom prst="straightConnector1">
            <a:avLst/>
          </a:prstGeom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C909062-E875-A38A-74EF-3C72479B6DB6}"/>
              </a:ext>
            </a:extLst>
          </p:cNvPr>
          <p:cNvSpPr txBox="1"/>
          <p:nvPr/>
        </p:nvSpPr>
        <p:spPr>
          <a:xfrm>
            <a:off x="6093228" y="3934502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0000FF"/>
                </a:solidFill>
              </a:rPr>
              <a:t>τ</a:t>
            </a:r>
            <a:r>
              <a:rPr lang="en-US" baseline="-25000" dirty="0">
                <a:solidFill>
                  <a:srgbClr val="0000FF"/>
                </a:solidFill>
              </a:rPr>
              <a:t>LOS</a:t>
            </a:r>
            <a:r>
              <a:rPr lang="en-US" dirty="0">
                <a:solidFill>
                  <a:srgbClr val="0000FF"/>
                </a:solidFill>
              </a:rPr>
              <a:t>(s)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9914E8-1823-1E88-21E4-8911BB0C901F}"/>
              </a:ext>
            </a:extLst>
          </p:cNvPr>
          <p:cNvSpPr txBox="1"/>
          <p:nvPr/>
        </p:nvSpPr>
        <p:spPr>
          <a:xfrm rot="2607206">
            <a:off x="3620532" y="2775051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EE0000"/>
                </a:solidFill>
              </a:rPr>
              <a:t>τ</a:t>
            </a:r>
            <a:r>
              <a:rPr lang="en-US" baseline="-25000" dirty="0">
                <a:solidFill>
                  <a:srgbClr val="EE0000"/>
                </a:solidFill>
              </a:rPr>
              <a:t>Sol</a:t>
            </a:r>
            <a:r>
              <a:rPr lang="en-US" dirty="0">
                <a:solidFill>
                  <a:srgbClr val="EE0000"/>
                </a:solidFill>
              </a:rPr>
              <a:t>(s)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582F6-55F6-1A3C-FE61-D4183E0B0810}"/>
              </a:ext>
            </a:extLst>
          </p:cNvPr>
          <p:cNvSpPr txBox="1"/>
          <p:nvPr/>
        </p:nvSpPr>
        <p:spPr>
          <a:xfrm>
            <a:off x="6860167" y="544437"/>
            <a:ext cx="50347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total number of points along LOS is </a:t>
            </a:r>
            <a:r>
              <a:rPr lang="en-US" b="1" dirty="0"/>
              <a:t>2n+1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(n – number of shells above the TP)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from the observation point (“right” most) and move “left” – against positive S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know location of all points S[i]: both XYZ and optical layer (recall: I have a mask)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Accumulate optical path: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6054B2-E277-2D32-2F34-730063329D9E}"/>
              </a:ext>
            </a:extLst>
          </p:cNvPr>
          <p:cNvSpPr/>
          <p:nvPr/>
        </p:nvSpPr>
        <p:spPr>
          <a:xfrm>
            <a:off x="7578536" y="4378022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607A76-9951-B042-EED7-74E9E20C7A5C}"/>
              </a:ext>
            </a:extLst>
          </p:cNvPr>
          <p:cNvSpPr/>
          <p:nvPr/>
        </p:nvSpPr>
        <p:spPr>
          <a:xfrm>
            <a:off x="7356352" y="4378022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28C8C1-5ABA-E1A4-2A23-20E968A323B2}"/>
              </a:ext>
            </a:extLst>
          </p:cNvPr>
          <p:cNvSpPr/>
          <p:nvPr/>
        </p:nvSpPr>
        <p:spPr>
          <a:xfrm>
            <a:off x="7804091" y="4378022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1B804-B0E4-D635-313A-6BBDB6A736F3}"/>
              </a:ext>
            </a:extLst>
          </p:cNvPr>
          <p:cNvSpPr txBox="1"/>
          <p:nvPr/>
        </p:nvSpPr>
        <p:spPr>
          <a:xfrm>
            <a:off x="7974926" y="4047586"/>
            <a:ext cx="426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</a:t>
            </a:r>
            <a:r>
              <a:rPr lang="en-US" baseline="-25000" dirty="0">
                <a:solidFill>
                  <a:srgbClr val="0000FF"/>
                </a:solidFill>
              </a:rPr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001C6-CE3B-6141-31C9-94D5D750AC3F}"/>
              </a:ext>
            </a:extLst>
          </p:cNvPr>
          <p:cNvSpPr txBox="1"/>
          <p:nvPr/>
        </p:nvSpPr>
        <p:spPr>
          <a:xfrm>
            <a:off x="7757961" y="4399317"/>
            <a:ext cx="529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</a:t>
            </a:r>
            <a:r>
              <a:rPr lang="en-US" baseline="-25000" dirty="0">
                <a:solidFill>
                  <a:srgbClr val="0000FF"/>
                </a:solidFill>
              </a:rPr>
              <a:t>n-1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66422C-6503-62E3-22FE-551D95D0D657}"/>
              </a:ext>
            </a:extLst>
          </p:cNvPr>
          <p:cNvSpPr txBox="1"/>
          <p:nvPr/>
        </p:nvSpPr>
        <p:spPr>
          <a:xfrm>
            <a:off x="7354190" y="4012552"/>
            <a:ext cx="529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</a:t>
            </a:r>
            <a:r>
              <a:rPr lang="en-US" baseline="-25000" dirty="0">
                <a:solidFill>
                  <a:srgbClr val="0000FF"/>
                </a:solidFill>
              </a:rPr>
              <a:t>n-2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9B57FE-BFC5-9F07-01BC-5E5C88EA87EE}"/>
              </a:ext>
            </a:extLst>
          </p:cNvPr>
          <p:cNvSpPr txBox="1"/>
          <p:nvPr/>
        </p:nvSpPr>
        <p:spPr>
          <a:xfrm>
            <a:off x="7055623" y="4376085"/>
            <a:ext cx="529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</a:t>
            </a:r>
            <a:r>
              <a:rPr lang="en-US" baseline="-25000" dirty="0">
                <a:solidFill>
                  <a:srgbClr val="0000FF"/>
                </a:solidFill>
              </a:rPr>
              <a:t>n-3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9A528-0C9E-8B9B-120A-5F7E44A03E20}"/>
              </a:ext>
            </a:extLst>
          </p:cNvPr>
          <p:cNvSpPr txBox="1"/>
          <p:nvPr/>
        </p:nvSpPr>
        <p:spPr>
          <a:xfrm>
            <a:off x="4514548" y="4365207"/>
            <a:ext cx="47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</a:t>
            </a:r>
            <a:r>
              <a:rPr lang="en-US" baseline="-250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DD59D2-1A18-3051-73AA-2CC021F31F8A}"/>
              </a:ext>
            </a:extLst>
          </p:cNvPr>
          <p:cNvSpPr txBox="1"/>
          <p:nvPr/>
        </p:nvSpPr>
        <p:spPr>
          <a:xfrm>
            <a:off x="793146" y="4383449"/>
            <a:ext cx="529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</a:t>
            </a:r>
            <a:r>
              <a:rPr lang="en-US" baseline="-25000" dirty="0">
                <a:solidFill>
                  <a:srgbClr val="0000FF"/>
                </a:solidFill>
              </a:rPr>
              <a:t>-n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E84C56-AB7E-C3AB-906D-C79C0E7E584E}"/>
              </a:ext>
            </a:extLst>
          </p:cNvPr>
          <p:cNvSpPr/>
          <p:nvPr/>
        </p:nvSpPr>
        <p:spPr>
          <a:xfrm>
            <a:off x="910898" y="4370058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A31D26-E0F1-70CA-1740-8A102783DB90}"/>
              </a:ext>
            </a:extLst>
          </p:cNvPr>
          <p:cNvSpPr txBox="1"/>
          <p:nvPr/>
        </p:nvSpPr>
        <p:spPr>
          <a:xfrm>
            <a:off x="7354190" y="2923955"/>
            <a:ext cx="48490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tau[n] =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i = n-1, -n, step -1: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t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tau_segment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(s[i], s[i+1])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tau[i] = tau[i+1] + 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F84E9D1-834D-1DDB-05F4-408C2B001D59}"/>
              </a:ext>
            </a:extLst>
          </p:cNvPr>
          <p:cNvCxnSpPr>
            <a:cxnSpLocks/>
          </p:cNvCxnSpPr>
          <p:nvPr/>
        </p:nvCxnSpPr>
        <p:spPr>
          <a:xfrm>
            <a:off x="7597555" y="4423742"/>
            <a:ext cx="0" cy="1253769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046C1A-FAAE-27FE-4AFB-958C67FA0E98}"/>
              </a:ext>
            </a:extLst>
          </p:cNvPr>
          <p:cNvCxnSpPr>
            <a:cxnSpLocks/>
          </p:cNvCxnSpPr>
          <p:nvPr/>
        </p:nvCxnSpPr>
        <p:spPr>
          <a:xfrm>
            <a:off x="7819295" y="4411457"/>
            <a:ext cx="0" cy="1253769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C45C67-FB65-85B7-EF73-498225E77EB2}"/>
              </a:ext>
            </a:extLst>
          </p:cNvPr>
          <p:cNvCxnSpPr>
            <a:cxnSpLocks/>
          </p:cNvCxnSpPr>
          <p:nvPr/>
        </p:nvCxnSpPr>
        <p:spPr>
          <a:xfrm flipH="1">
            <a:off x="7586604" y="5386222"/>
            <a:ext cx="3078507" cy="2373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EEDF3B5-7F40-959F-1D00-81940D3FE540}"/>
              </a:ext>
            </a:extLst>
          </p:cNvPr>
          <p:cNvSpPr txBox="1"/>
          <p:nvPr/>
        </p:nvSpPr>
        <p:spPr>
          <a:xfrm>
            <a:off x="8565870" y="5016890"/>
            <a:ext cx="2918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 : OT of a segment</a:t>
            </a:r>
            <a:endParaRPr lang="en-US" baseline="-25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83B66A-EB03-CF99-35A4-2FA05EA89353}"/>
              </a:ext>
            </a:extLst>
          </p:cNvPr>
          <p:cNvSpPr txBox="1"/>
          <p:nvPr/>
        </p:nvSpPr>
        <p:spPr>
          <a:xfrm>
            <a:off x="8572859" y="5390968"/>
            <a:ext cx="2191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between 2 points S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718014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3E528-8855-AD34-50BC-B4921AAF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white, line&#10;&#10;AI-generated content may be incorrect.">
            <a:extLst>
              <a:ext uri="{FF2B5EF4-FFF2-40B4-BE49-F238E27FC236}">
                <a16:creationId xmlns:a16="http://schemas.microsoft.com/office/drawing/2014/main" id="{826BBF57-4B06-5545-D31D-FF95714E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" y="2249432"/>
            <a:ext cx="8923451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B725EC-5D2B-9BE8-3126-7D9BC3FDE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130" y="1419813"/>
            <a:ext cx="552242" cy="5390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873E28C-E00F-E16D-D902-BF15448C0306}"/>
              </a:ext>
            </a:extLst>
          </p:cNvPr>
          <p:cNvCxnSpPr>
            <a:cxnSpLocks/>
          </p:cNvCxnSpPr>
          <p:nvPr/>
        </p:nvCxnSpPr>
        <p:spPr>
          <a:xfrm>
            <a:off x="213916" y="4402804"/>
            <a:ext cx="9144000" cy="27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2771070-3E13-F8EF-A2C5-57460807C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488839">
            <a:off x="9462409" y="4152939"/>
            <a:ext cx="486143" cy="49275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438D2B-37AC-C92C-ABC1-CC21CA78FCED}"/>
              </a:ext>
            </a:extLst>
          </p:cNvPr>
          <p:cNvCxnSpPr>
            <a:cxnSpLocks/>
          </p:cNvCxnSpPr>
          <p:nvPr/>
        </p:nvCxnSpPr>
        <p:spPr>
          <a:xfrm>
            <a:off x="3218171" y="1875354"/>
            <a:ext cx="2748733" cy="2485235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93D29203-0DD3-8133-63E5-C19DFBB6DD0C}"/>
              </a:ext>
            </a:extLst>
          </p:cNvPr>
          <p:cNvSpPr/>
          <p:nvPr/>
        </p:nvSpPr>
        <p:spPr>
          <a:xfrm>
            <a:off x="4454589" y="4360589"/>
            <a:ext cx="91440" cy="9144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429CEE-BD66-DB16-F6EA-7A2D30C60AF8}"/>
              </a:ext>
            </a:extLst>
          </p:cNvPr>
          <p:cNvSpPr txBox="1"/>
          <p:nvPr/>
        </p:nvSpPr>
        <p:spPr>
          <a:xfrm>
            <a:off x="9314292" y="6371511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C35FE8-2165-3805-D023-067BA743A613}"/>
              </a:ext>
            </a:extLst>
          </p:cNvPr>
          <p:cNvSpPr txBox="1"/>
          <p:nvPr/>
        </p:nvSpPr>
        <p:spPr>
          <a:xfrm>
            <a:off x="8401873" y="4429423"/>
            <a:ext cx="764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LOS:</a:t>
            </a:r>
            <a:endParaRPr lang="en-US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8DA08D-4075-F79C-546A-ADD5E2057F5A}"/>
              </a:ext>
            </a:extLst>
          </p:cNvPr>
          <p:cNvSpPr txBox="1"/>
          <p:nvPr/>
        </p:nvSpPr>
        <p:spPr>
          <a:xfrm>
            <a:off x="4164884" y="4376410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8A58F2-7E3A-7F9A-4691-91C0BA39F2C2}"/>
              </a:ext>
            </a:extLst>
          </p:cNvPr>
          <p:cNvSpPr/>
          <p:nvPr/>
        </p:nvSpPr>
        <p:spPr>
          <a:xfrm>
            <a:off x="7105780" y="4378951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DF4B9B3-3251-A296-3D7D-FDC5E6301F91}"/>
              </a:ext>
            </a:extLst>
          </p:cNvPr>
          <p:cNvSpPr/>
          <p:nvPr/>
        </p:nvSpPr>
        <p:spPr>
          <a:xfrm>
            <a:off x="7345495" y="4376459"/>
            <a:ext cx="45720" cy="457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2805805-04C2-F2F9-FCD2-C44D427F86D7}"/>
              </a:ext>
            </a:extLst>
          </p:cNvPr>
          <p:cNvSpPr/>
          <p:nvPr/>
        </p:nvSpPr>
        <p:spPr>
          <a:xfrm>
            <a:off x="5993061" y="4357358"/>
            <a:ext cx="91440" cy="91440"/>
          </a:xfrm>
          <a:prstGeom prst="ellipse">
            <a:avLst/>
          </a:prstGeom>
          <a:solidFill>
            <a:srgbClr val="EE0000"/>
          </a:solidFill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49C51A-9D42-5150-5488-733E1FC2DBED}"/>
              </a:ext>
            </a:extLst>
          </p:cNvPr>
          <p:cNvSpPr txBox="1"/>
          <p:nvPr/>
        </p:nvSpPr>
        <p:spPr>
          <a:xfrm>
            <a:off x="5975878" y="4406309"/>
            <a:ext cx="30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A18951-18B7-6A7E-004F-A2AA72527504}"/>
              </a:ext>
            </a:extLst>
          </p:cNvPr>
          <p:cNvSpPr txBox="1"/>
          <p:nvPr/>
        </p:nvSpPr>
        <p:spPr>
          <a:xfrm>
            <a:off x="4483733" y="6300266"/>
            <a:ext cx="30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22BDDD5-1251-0AD7-4F12-FBD80C23B2C6}"/>
              </a:ext>
            </a:extLst>
          </p:cNvPr>
          <p:cNvCxnSpPr>
            <a:cxnSpLocks/>
          </p:cNvCxnSpPr>
          <p:nvPr/>
        </p:nvCxnSpPr>
        <p:spPr>
          <a:xfrm>
            <a:off x="8750736" y="6723278"/>
            <a:ext cx="737062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0F6C009-60C0-849D-773B-9C55E58C6504}"/>
              </a:ext>
            </a:extLst>
          </p:cNvPr>
          <p:cNvCxnSpPr>
            <a:cxnSpLocks/>
          </p:cNvCxnSpPr>
          <p:nvPr/>
        </p:nvCxnSpPr>
        <p:spPr>
          <a:xfrm flipV="1">
            <a:off x="4498022" y="1703605"/>
            <a:ext cx="0" cy="740587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C810FC9-FFED-53F1-F4CB-FA84052B3AFA}"/>
              </a:ext>
            </a:extLst>
          </p:cNvPr>
          <p:cNvSpPr txBox="1"/>
          <p:nvPr/>
        </p:nvSpPr>
        <p:spPr>
          <a:xfrm>
            <a:off x="4522214" y="1572904"/>
            <a:ext cx="325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C3F44D9-5F82-B363-0F93-A9DE856F05E4}"/>
              </a:ext>
            </a:extLst>
          </p:cNvPr>
          <p:cNvCxnSpPr>
            <a:cxnSpLocks/>
          </p:cNvCxnSpPr>
          <p:nvPr/>
        </p:nvCxnSpPr>
        <p:spPr>
          <a:xfrm flipH="1" flipV="1">
            <a:off x="3913443" y="2579325"/>
            <a:ext cx="585578" cy="4126388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B0F1381-F910-0055-13F9-2ECFBD13042E}"/>
              </a:ext>
            </a:extLst>
          </p:cNvPr>
          <p:cNvCxnSpPr>
            <a:cxnSpLocks/>
          </p:cNvCxnSpPr>
          <p:nvPr/>
        </p:nvCxnSpPr>
        <p:spPr>
          <a:xfrm flipH="1" flipV="1">
            <a:off x="3608653" y="6475298"/>
            <a:ext cx="890368" cy="230415"/>
          </a:xfrm>
          <a:prstGeom prst="line">
            <a:avLst/>
          </a:prstGeom>
          <a:ln w="1270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30FB9FB-682B-7B01-3403-4C68045480FE}"/>
              </a:ext>
            </a:extLst>
          </p:cNvPr>
          <p:cNvSpPr txBox="1"/>
          <p:nvPr/>
        </p:nvSpPr>
        <p:spPr>
          <a:xfrm>
            <a:off x="3784343" y="6221173"/>
            <a:ext cx="483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C33C27-6D83-DE9C-6FFD-7C39DB2DC5F3}"/>
              </a:ext>
            </a:extLst>
          </p:cNvPr>
          <p:cNvSpPr txBox="1"/>
          <p:nvPr/>
        </p:nvSpPr>
        <p:spPr>
          <a:xfrm>
            <a:off x="4159935" y="5905479"/>
            <a:ext cx="302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endParaRPr lang="en-US" i="1" baseline="-250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7E2F5BF-E719-C666-C759-3DAE5EFDD1CF}"/>
              </a:ext>
            </a:extLst>
          </p:cNvPr>
          <p:cNvCxnSpPr>
            <a:cxnSpLocks/>
          </p:cNvCxnSpPr>
          <p:nvPr/>
        </p:nvCxnSpPr>
        <p:spPr>
          <a:xfrm>
            <a:off x="6125646" y="4404341"/>
            <a:ext cx="1904027" cy="0"/>
          </a:xfrm>
          <a:prstGeom prst="straightConnector1">
            <a:avLst/>
          </a:prstGeom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CEB8831-E406-D87C-A4D1-4D74B32899FD}"/>
              </a:ext>
            </a:extLst>
          </p:cNvPr>
          <p:cNvSpPr txBox="1"/>
          <p:nvPr/>
        </p:nvSpPr>
        <p:spPr>
          <a:xfrm>
            <a:off x="6578530" y="4505264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0000FF"/>
                </a:solidFill>
              </a:rPr>
              <a:t>τ</a:t>
            </a:r>
            <a:r>
              <a:rPr lang="en-US" baseline="-25000" dirty="0">
                <a:solidFill>
                  <a:srgbClr val="0000FF"/>
                </a:solidFill>
              </a:rPr>
              <a:t>LOS</a:t>
            </a:r>
            <a:r>
              <a:rPr lang="en-US" dirty="0">
                <a:solidFill>
                  <a:srgbClr val="0000FF"/>
                </a:solidFill>
              </a:rPr>
              <a:t>(s)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5CEAE6-A39F-99A7-8489-154CCE90167D}"/>
              </a:ext>
            </a:extLst>
          </p:cNvPr>
          <p:cNvSpPr txBox="1"/>
          <p:nvPr/>
        </p:nvSpPr>
        <p:spPr>
          <a:xfrm rot="2607206">
            <a:off x="5000625" y="3283039"/>
            <a:ext cx="84014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l-GR" dirty="0">
                <a:solidFill>
                  <a:srgbClr val="EE0000"/>
                </a:solidFill>
              </a:rPr>
              <a:t>τ</a:t>
            </a:r>
            <a:r>
              <a:rPr lang="en-US" baseline="-25000" dirty="0">
                <a:solidFill>
                  <a:srgbClr val="EE0000"/>
                </a:solidFill>
              </a:rPr>
              <a:t>Sol</a:t>
            </a:r>
            <a:r>
              <a:rPr lang="en-US" dirty="0">
                <a:solidFill>
                  <a:srgbClr val="EE0000"/>
                </a:solidFill>
              </a:rPr>
              <a:t>(s)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652612-7DCD-E8DD-889F-1735F519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Optical Path along Sol: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BFE24B-1119-17B8-2133-31EA333D8914}"/>
              </a:ext>
            </a:extLst>
          </p:cNvPr>
          <p:cNvCxnSpPr>
            <a:cxnSpLocks/>
          </p:cNvCxnSpPr>
          <p:nvPr/>
        </p:nvCxnSpPr>
        <p:spPr>
          <a:xfrm>
            <a:off x="4327833" y="1861057"/>
            <a:ext cx="2748733" cy="2485235"/>
          </a:xfrm>
          <a:prstGeom prst="straightConnector1">
            <a:avLst/>
          </a:prstGeom>
          <a:ln w="25400">
            <a:solidFill>
              <a:srgbClr val="EE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B42687-F2E8-6D87-FC10-C68DD7831E35}"/>
              </a:ext>
            </a:extLst>
          </p:cNvPr>
          <p:cNvSpPr txBox="1"/>
          <p:nvPr/>
        </p:nvSpPr>
        <p:spPr>
          <a:xfrm>
            <a:off x="4884978" y="172161"/>
            <a:ext cx="69008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Solar paths are unique for each point </a:t>
            </a:r>
            <a:r>
              <a:rPr lang="en-US" dirty="0">
                <a:solidFill>
                  <a:srgbClr val="EE0000"/>
                </a:solidFill>
              </a:rPr>
              <a:t>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No accumulation between different points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intersections of the solar beam with </a:t>
            </a:r>
            <a:r>
              <a:rPr lang="en-US" b="1" dirty="0"/>
              <a:t>main shells </a:t>
            </a:r>
            <a:r>
              <a:rPr lang="en-US" dirty="0"/>
              <a:t>only…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….and add a piece between the last shell  “above” S and S itself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Theoretical background: the equation of the sphere and the parametric  equation of the line in XYZ</a:t>
            </a:r>
          </a:p>
        </p:txBody>
      </p:sp>
      <p:pic>
        <p:nvPicPr>
          <p:cNvPr id="14" name="Picture 13" descr="A picture containing text, blackboard&#10;&#10;AI-generated content may be incorrect.">
            <a:extLst>
              <a:ext uri="{FF2B5EF4-FFF2-40B4-BE49-F238E27FC236}">
                <a16:creationId xmlns:a16="http://schemas.microsoft.com/office/drawing/2014/main" id="{9603C142-EDA5-3D22-7BFC-144C95167B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537" y="1684354"/>
            <a:ext cx="2747125" cy="1828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87D3484-D95F-B5A8-7376-CDBB56CDD947}"/>
              </a:ext>
            </a:extLst>
          </p:cNvPr>
          <p:cNvSpPr txBox="1"/>
          <p:nvPr/>
        </p:nvSpPr>
        <p:spPr>
          <a:xfrm>
            <a:off x="8671709" y="5269499"/>
            <a:ext cx="3520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Solve the above system for </a:t>
            </a:r>
            <a:r>
              <a:rPr lang="en-US" i="1" dirty="0"/>
              <a:t>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 the one that yields z &gt; z</a:t>
            </a:r>
            <a:r>
              <a:rPr lang="en-US" baseline="-25000" dirty="0"/>
              <a:t>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it for 2 main shells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ourier New" panose="02070309020205020404" pitchFamily="49" charset="0"/>
              </a:rPr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tau_segment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(p1, p2)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E708E0-FCC1-B4EF-087E-4B11CE8AB202}"/>
              </a:ext>
            </a:extLst>
          </p:cNvPr>
          <p:cNvCxnSpPr>
            <a:cxnSpLocks/>
          </p:cNvCxnSpPr>
          <p:nvPr/>
        </p:nvCxnSpPr>
        <p:spPr>
          <a:xfrm flipV="1">
            <a:off x="11368088" y="3458655"/>
            <a:ext cx="0" cy="917755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DA2087-5FC8-ECB3-E605-7127C8C5D082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10321012" y="3458655"/>
            <a:ext cx="9031" cy="314658"/>
          </a:xfrm>
          <a:prstGeom prst="line">
            <a:avLst/>
          </a:prstGeom>
          <a:ln w="6350"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83F33B7-2575-264A-FF99-963124691D43}"/>
              </a:ext>
            </a:extLst>
          </p:cNvPr>
          <p:cNvSpPr txBox="1"/>
          <p:nvPr/>
        </p:nvSpPr>
        <p:spPr>
          <a:xfrm>
            <a:off x="9550844" y="3773313"/>
            <a:ext cx="15583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Known point on LOS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68A057-C4DC-960A-1243-D8D686FF2A7F}"/>
              </a:ext>
            </a:extLst>
          </p:cNvPr>
          <p:cNvSpPr txBox="1"/>
          <p:nvPr/>
        </p:nvSpPr>
        <p:spPr>
          <a:xfrm>
            <a:off x="10272257" y="4387796"/>
            <a:ext cx="1316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Solar beam 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direction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9B32AB4-3EFE-53AD-D24D-090F0A160EFC}"/>
              </a:ext>
            </a:extLst>
          </p:cNvPr>
          <p:cNvCxnSpPr>
            <a:cxnSpLocks/>
          </p:cNvCxnSpPr>
          <p:nvPr/>
        </p:nvCxnSpPr>
        <p:spPr>
          <a:xfrm flipV="1">
            <a:off x="11911013" y="2999777"/>
            <a:ext cx="0" cy="917755"/>
          </a:xfrm>
          <a:prstGeom prst="line">
            <a:avLst/>
          </a:prstGeom>
          <a:ln w="6350">
            <a:solidFill>
              <a:schemeClr val="tx1"/>
            </a:solidFill>
            <a:prstDash val="solid"/>
            <a:headEnd type="none" w="med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C9E3238-D910-293F-B503-C8902647D7D0}"/>
              </a:ext>
            </a:extLst>
          </p:cNvPr>
          <p:cNvSpPr txBox="1"/>
          <p:nvPr/>
        </p:nvSpPr>
        <p:spPr>
          <a:xfrm rot="5400000">
            <a:off x="11274755" y="4408850"/>
            <a:ext cx="131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parameter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056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298D21-23F1-9155-A4C3-A156C1751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7398862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Contributing points:</a:t>
            </a:r>
          </a:p>
        </p:txBody>
      </p:sp>
      <p:pic>
        <p:nvPicPr>
          <p:cNvPr id="6" name="Picture 5" descr="Chart, line chart&#10;&#10;AI-generated content may be incorrect.">
            <a:extLst>
              <a:ext uri="{FF2B5EF4-FFF2-40B4-BE49-F238E27FC236}">
                <a16:creationId xmlns:a16="http://schemas.microsoft.com/office/drawing/2014/main" id="{A71B2B33-4892-F0A5-14FC-876F8C1BE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313" y="15917"/>
            <a:ext cx="4574687" cy="6826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FBF26D-574D-8B14-A71F-D8CDD253A8D5}"/>
              </a:ext>
            </a:extLst>
          </p:cNvPr>
          <p:cNvSpPr txBox="1"/>
          <p:nvPr/>
        </p:nvSpPr>
        <p:spPr>
          <a:xfrm>
            <a:off x="8392057" y="204231"/>
            <a:ext cx="13967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Fo ∙</a:t>
            </a:r>
            <a:r>
              <a:rPr lang="el-GR" dirty="0"/>
              <a:t>σ</a:t>
            </a:r>
            <a:r>
              <a:rPr lang="en-US" dirty="0"/>
              <a:t> ∙p /4</a:t>
            </a:r>
            <a:r>
              <a:rPr lang="el-GR" dirty="0"/>
              <a:t>π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547D7-32EC-85E7-01BB-1BBCC27BC9DD}"/>
              </a:ext>
            </a:extLst>
          </p:cNvPr>
          <p:cNvSpPr txBox="1"/>
          <p:nvPr/>
        </p:nvSpPr>
        <p:spPr>
          <a:xfrm>
            <a:off x="9616672" y="1920858"/>
            <a:ext cx="105804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exp(-</a:t>
            </a:r>
            <a:r>
              <a:rPr lang="el-GR" dirty="0">
                <a:solidFill>
                  <a:srgbClr val="EE0000"/>
                </a:solidFill>
              </a:rPr>
              <a:t>τ</a:t>
            </a:r>
            <a:r>
              <a:rPr lang="en-US" baseline="-25000" dirty="0">
                <a:solidFill>
                  <a:srgbClr val="EE0000"/>
                </a:solidFill>
              </a:rPr>
              <a:t>Sol</a:t>
            </a:r>
            <a:r>
              <a:rPr lang="en-US" dirty="0">
                <a:solidFill>
                  <a:srgbClr val="EE000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B7911-7884-3D79-9129-9FD87D1B1E3A}"/>
              </a:ext>
            </a:extLst>
          </p:cNvPr>
          <p:cNvSpPr txBox="1"/>
          <p:nvPr/>
        </p:nvSpPr>
        <p:spPr>
          <a:xfrm>
            <a:off x="9090452" y="4567811"/>
            <a:ext cx="212371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 = Fo ∙</a:t>
            </a:r>
            <a:r>
              <a:rPr lang="el-GR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σ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∙p exp(-</a:t>
            </a:r>
            <a:r>
              <a:rPr lang="el-GR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τ</a:t>
            </a:r>
            <a:r>
              <a:rPr lang="en-US" sz="1400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Sol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 / 4</a:t>
            </a:r>
            <a:r>
              <a:rPr lang="el-GR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π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BF34C-CC5D-0420-DE98-DD345B451C48}"/>
              </a:ext>
            </a:extLst>
          </p:cNvPr>
          <p:cNvSpPr txBox="1"/>
          <p:nvPr/>
        </p:nvSpPr>
        <p:spPr>
          <a:xfrm>
            <a:off x="9586727" y="5582327"/>
            <a:ext cx="111793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exp(-</a:t>
            </a:r>
            <a:r>
              <a:rPr lang="el-GR" dirty="0">
                <a:solidFill>
                  <a:srgbClr val="0000FF"/>
                </a:solidFill>
              </a:rPr>
              <a:t>τ</a:t>
            </a:r>
            <a:r>
              <a:rPr lang="en-US" baseline="-25000" dirty="0">
                <a:solidFill>
                  <a:srgbClr val="0000FF"/>
                </a:solidFill>
              </a:rPr>
              <a:t>LOS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92697DD-3F1B-DDF2-449F-240D350C1A65}"/>
              </a:ext>
            </a:extLst>
          </p:cNvPr>
          <p:cNvSpPr/>
          <p:nvPr/>
        </p:nvSpPr>
        <p:spPr>
          <a:xfrm>
            <a:off x="6969513" y="6493632"/>
            <a:ext cx="858700" cy="18566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FA68E7-2634-D533-E8DF-2A00029F051A}"/>
              </a:ext>
            </a:extLst>
          </p:cNvPr>
          <p:cNvSpPr txBox="1"/>
          <p:nvPr/>
        </p:nvSpPr>
        <p:spPr>
          <a:xfrm>
            <a:off x="134454" y="6406440"/>
            <a:ext cx="7087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Plots vs. coordinate along LOS; TP: s = 0; OP (most right): max(s) &gt;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C77C67-365B-D2E7-797B-8FE0963BCAE8}"/>
              </a:ext>
            </a:extLst>
          </p:cNvPr>
          <p:cNvSpPr txBox="1"/>
          <p:nvPr/>
        </p:nvSpPr>
        <p:spPr>
          <a:xfrm>
            <a:off x="381947" y="1043695"/>
            <a:ext cx="7016915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Case:</a:t>
            </a:r>
          </a:p>
          <a:p>
            <a:r>
              <a:rPr lang="en-US" sz="1500" dirty="0"/>
              <a:t>	300nm</a:t>
            </a:r>
          </a:p>
          <a:p>
            <a:r>
              <a:rPr lang="en-US" sz="1500" dirty="0"/>
              <a:t>	Rayleigh OT: 1.2002</a:t>
            </a:r>
          </a:p>
          <a:p>
            <a:r>
              <a:rPr lang="en-US" sz="1500" b="1" dirty="0"/>
              <a:t>	</a:t>
            </a:r>
            <a:r>
              <a:rPr lang="en-US" sz="1500" b="1" dirty="0">
                <a:solidFill>
                  <a:srgbClr val="EE0000"/>
                </a:solidFill>
              </a:rPr>
              <a:t>Ozone OT: 2.9165 – strong absorption</a:t>
            </a:r>
          </a:p>
          <a:p>
            <a:r>
              <a:rPr lang="en-US" sz="1500" dirty="0"/>
              <a:t>	SZA=80  RAA=150  SCA=148.5 </a:t>
            </a:r>
            <a:r>
              <a:rPr lang="en-US" sz="1500" dirty="0">
                <a:solidFill>
                  <a:schemeClr val="bg1">
                    <a:lumMod val="65000"/>
                  </a:schemeClr>
                </a:solidFill>
              </a:rPr>
              <a:t>(backscattering)</a:t>
            </a:r>
          </a:p>
          <a:p>
            <a:r>
              <a:rPr lang="en-US" sz="1500" dirty="0"/>
              <a:t>	</a:t>
            </a:r>
            <a:r>
              <a:rPr lang="en-US" sz="1500" b="1" dirty="0" err="1">
                <a:solidFill>
                  <a:srgbClr val="0000FF"/>
                </a:solidFill>
              </a:rPr>
              <a:t>h_tp</a:t>
            </a:r>
            <a:r>
              <a:rPr lang="en-US" sz="1500" b="1" dirty="0">
                <a:solidFill>
                  <a:srgbClr val="0000FF"/>
                </a:solidFill>
              </a:rPr>
              <a:t> = 30.5 (km)	</a:t>
            </a:r>
            <a:r>
              <a:rPr lang="en-US" sz="1500" dirty="0">
                <a:solidFill>
                  <a:schemeClr val="bg1">
                    <a:lumMod val="65000"/>
                  </a:schemeClr>
                </a:solidFill>
              </a:rPr>
              <a:t>{ FYI: 279 S-points; ds ~ 2000km/(279-1) = 7.2km  }</a:t>
            </a:r>
            <a:endParaRPr lang="en-US" sz="1500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1500" b="1" dirty="0">
              <a:solidFill>
                <a:srgbClr val="0000FF"/>
              </a:solidFill>
            </a:endParaRPr>
          </a:p>
          <a:p>
            <a:r>
              <a:rPr lang="en-US" sz="1500" dirty="0"/>
              <a:t>	Benchmark: 3.484267E-3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0EA91F-BC96-31A0-E28F-4613181BEA60}"/>
              </a:ext>
            </a:extLst>
          </p:cNvPr>
          <p:cNvSpPr txBox="1"/>
          <p:nvPr/>
        </p:nvSpPr>
        <p:spPr>
          <a:xfrm>
            <a:off x="8268111" y="3465212"/>
            <a:ext cx="152073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Source Function:</a:t>
            </a: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829ABC-725E-44FE-8282-67C51411A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38" y="3303245"/>
            <a:ext cx="7183125" cy="1081091"/>
          </a:xfrm>
          <a:prstGeom prst="rect">
            <a:avLst/>
          </a:prstGeom>
        </p:spPr>
      </p:pic>
      <p:pic>
        <p:nvPicPr>
          <p:cNvPr id="18" name="Picture 17" descr="Text&#10;&#10;AI-generated content may be incorrect.">
            <a:extLst>
              <a:ext uri="{FF2B5EF4-FFF2-40B4-BE49-F238E27FC236}">
                <a16:creationId xmlns:a16="http://schemas.microsoft.com/office/drawing/2014/main" id="{C96E163E-8889-5A2D-F037-54B94F2A0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424" y="4825586"/>
            <a:ext cx="4519142" cy="4356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3CE4D2-7C54-CFF9-CF12-366D66F86A66}"/>
              </a:ext>
            </a:extLst>
          </p:cNvPr>
          <p:cNvSpPr txBox="1"/>
          <p:nvPr/>
        </p:nvSpPr>
        <p:spPr>
          <a:xfrm>
            <a:off x="217094" y="5579216"/>
            <a:ext cx="7469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or + 0.1% vs. the benchmark &amp; +0.03% vs. the benchmark (better match!)</a:t>
            </a:r>
          </a:p>
        </p:txBody>
      </p:sp>
    </p:spTree>
    <p:extLst>
      <p:ext uri="{BB962C8B-B14F-4D97-AF65-F5344CB8AC3E}">
        <p14:creationId xmlns:p14="http://schemas.microsoft.com/office/powerpoint/2010/main" val="155769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45BA-B0D0-EF5B-A11F-CDEDEEEE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Chart, line chart&#10;&#10;AI-generated content may be incorrect.">
            <a:extLst>
              <a:ext uri="{FF2B5EF4-FFF2-40B4-BE49-F238E27FC236}">
                <a16:creationId xmlns:a16="http://schemas.microsoft.com/office/drawing/2014/main" id="{1DFEEF46-96FC-BFFE-BFF8-104F674D4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032" y="0"/>
            <a:ext cx="454797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F2D7FF1-F179-BE14-08F5-B3E143CE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7398862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Contributing points: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664DE-34FE-977B-167C-0D9A8398F455}"/>
              </a:ext>
            </a:extLst>
          </p:cNvPr>
          <p:cNvSpPr txBox="1"/>
          <p:nvPr/>
        </p:nvSpPr>
        <p:spPr>
          <a:xfrm>
            <a:off x="8392057" y="204231"/>
            <a:ext cx="13967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Fo ∙</a:t>
            </a:r>
            <a:r>
              <a:rPr lang="el-GR" dirty="0"/>
              <a:t>σ</a:t>
            </a:r>
            <a:r>
              <a:rPr lang="en-US" dirty="0"/>
              <a:t> ∙p /4</a:t>
            </a:r>
            <a:r>
              <a:rPr lang="el-GR" dirty="0"/>
              <a:t>π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0202E-4299-633F-7954-E3B73DD25399}"/>
              </a:ext>
            </a:extLst>
          </p:cNvPr>
          <p:cNvSpPr txBox="1"/>
          <p:nvPr/>
        </p:nvSpPr>
        <p:spPr>
          <a:xfrm>
            <a:off x="9616672" y="1920858"/>
            <a:ext cx="105804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E0000"/>
                </a:solidFill>
              </a:rPr>
              <a:t>exp(-</a:t>
            </a:r>
            <a:r>
              <a:rPr lang="el-GR" dirty="0">
                <a:solidFill>
                  <a:srgbClr val="EE0000"/>
                </a:solidFill>
              </a:rPr>
              <a:t>τ</a:t>
            </a:r>
            <a:r>
              <a:rPr lang="en-US" baseline="-25000" dirty="0">
                <a:solidFill>
                  <a:srgbClr val="EE0000"/>
                </a:solidFill>
              </a:rPr>
              <a:t>Sol</a:t>
            </a:r>
            <a:r>
              <a:rPr lang="en-US" dirty="0">
                <a:solidFill>
                  <a:srgbClr val="EE000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1A26ED-F388-8FA1-842A-E5449AC2293E}"/>
              </a:ext>
            </a:extLst>
          </p:cNvPr>
          <p:cNvSpPr txBox="1"/>
          <p:nvPr/>
        </p:nvSpPr>
        <p:spPr>
          <a:xfrm>
            <a:off x="9059691" y="4042543"/>
            <a:ext cx="2123711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 = Fo ∙</a:t>
            </a:r>
            <a:r>
              <a:rPr lang="el-GR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σ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∙p exp(-</a:t>
            </a:r>
            <a:r>
              <a:rPr lang="el-GR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τ</a:t>
            </a:r>
            <a:r>
              <a:rPr lang="en-US" sz="1400" baseline="-25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Sol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 / 4</a:t>
            </a:r>
            <a:r>
              <a:rPr lang="el-GR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π</a:t>
            </a: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08E75-0BB1-0A95-B9C7-5A5ABD4F6597}"/>
              </a:ext>
            </a:extLst>
          </p:cNvPr>
          <p:cNvSpPr txBox="1"/>
          <p:nvPr/>
        </p:nvSpPr>
        <p:spPr>
          <a:xfrm>
            <a:off x="10552185" y="5733341"/>
            <a:ext cx="111793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exp(-</a:t>
            </a:r>
            <a:r>
              <a:rPr lang="el-GR" dirty="0">
                <a:solidFill>
                  <a:srgbClr val="0000FF"/>
                </a:solidFill>
              </a:rPr>
              <a:t>τ</a:t>
            </a:r>
            <a:r>
              <a:rPr lang="en-US" baseline="-25000" dirty="0">
                <a:solidFill>
                  <a:srgbClr val="0000FF"/>
                </a:solidFill>
              </a:rPr>
              <a:t>LOS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729551C-FED7-2EE7-2868-C9C1A766F4CE}"/>
              </a:ext>
            </a:extLst>
          </p:cNvPr>
          <p:cNvSpPr/>
          <p:nvPr/>
        </p:nvSpPr>
        <p:spPr>
          <a:xfrm>
            <a:off x="6969513" y="6493632"/>
            <a:ext cx="858700" cy="18566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4FAF8C-BCAE-2446-0AA7-A1C9CECE0C0E}"/>
              </a:ext>
            </a:extLst>
          </p:cNvPr>
          <p:cNvSpPr txBox="1"/>
          <p:nvPr/>
        </p:nvSpPr>
        <p:spPr>
          <a:xfrm>
            <a:off x="134454" y="6406440"/>
            <a:ext cx="7087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Plots vs. coordinate along LOS; TP: s = 0; OP (most right): max(s) &gt;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DC4389-D9C5-8409-66C2-3E66EF169CFE}"/>
              </a:ext>
            </a:extLst>
          </p:cNvPr>
          <p:cNvSpPr txBox="1"/>
          <p:nvPr/>
        </p:nvSpPr>
        <p:spPr>
          <a:xfrm>
            <a:off x="381947" y="1043695"/>
            <a:ext cx="7016915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dirty="0"/>
              <a:t>Case:</a:t>
            </a:r>
          </a:p>
          <a:p>
            <a:r>
              <a:rPr lang="en-US" sz="1500" dirty="0"/>
              <a:t>	351nm</a:t>
            </a:r>
          </a:p>
          <a:p>
            <a:r>
              <a:rPr lang="en-US" sz="1500" dirty="0"/>
              <a:t>	Rayleigh OT: 0.6167</a:t>
            </a:r>
          </a:p>
          <a:p>
            <a:r>
              <a:rPr lang="en-US" sz="1500" b="1" dirty="0"/>
              <a:t>	</a:t>
            </a:r>
            <a:r>
              <a:rPr lang="en-US" sz="1500" dirty="0"/>
              <a:t>Ozone OT: 0.0 – </a:t>
            </a:r>
            <a:r>
              <a:rPr lang="en-US" sz="1500" b="1" dirty="0"/>
              <a:t>no absorption</a:t>
            </a:r>
          </a:p>
          <a:p>
            <a:r>
              <a:rPr lang="en-US" sz="1500" dirty="0"/>
              <a:t>	SZA=70  RAA=30  SCA=35.5 </a:t>
            </a:r>
            <a:r>
              <a:rPr lang="en-US" sz="1500" dirty="0">
                <a:solidFill>
                  <a:schemeClr val="bg1">
                    <a:lumMod val="65000"/>
                  </a:schemeClr>
                </a:solidFill>
              </a:rPr>
              <a:t>(backscattering)</a:t>
            </a:r>
          </a:p>
          <a:p>
            <a:r>
              <a:rPr lang="en-US" sz="1500" dirty="0"/>
              <a:t>	</a:t>
            </a:r>
            <a:r>
              <a:rPr lang="en-US" sz="1500" b="1" dirty="0" err="1">
                <a:solidFill>
                  <a:srgbClr val="0000FF"/>
                </a:solidFill>
              </a:rPr>
              <a:t>h_tp</a:t>
            </a:r>
            <a:r>
              <a:rPr lang="en-US" sz="1500" b="1" dirty="0">
                <a:solidFill>
                  <a:srgbClr val="0000FF"/>
                </a:solidFill>
              </a:rPr>
              <a:t> = 30.5 (km)	</a:t>
            </a:r>
            <a:r>
              <a:rPr lang="en-US" sz="1500" dirty="0">
                <a:solidFill>
                  <a:schemeClr val="bg1">
                    <a:lumMod val="65000"/>
                  </a:schemeClr>
                </a:solidFill>
              </a:rPr>
              <a:t>{ FYI: 279 S-points; ds ~ 2000km/(279-1) = 7.2km  }</a:t>
            </a:r>
            <a:endParaRPr lang="en-US" sz="1500" b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1500" b="1" dirty="0">
              <a:solidFill>
                <a:srgbClr val="0000FF"/>
              </a:solidFill>
            </a:endParaRPr>
          </a:p>
          <a:p>
            <a:r>
              <a:rPr lang="en-US" sz="1500" dirty="0"/>
              <a:t>	Benchmark: 3.9848E-3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42E2A-8C13-2F02-59D1-127527B1CBBD}"/>
              </a:ext>
            </a:extLst>
          </p:cNvPr>
          <p:cNvSpPr txBox="1"/>
          <p:nvPr/>
        </p:nvSpPr>
        <p:spPr>
          <a:xfrm>
            <a:off x="8268111" y="3465212"/>
            <a:ext cx="152073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Source Function:</a:t>
            </a:r>
          </a:p>
        </p:txBody>
      </p:sp>
      <p:pic>
        <p:nvPicPr>
          <p:cNvPr id="3" name="Picture 2" descr="Text&#10;&#10;AI-generated content may be incorrect.">
            <a:extLst>
              <a:ext uri="{FF2B5EF4-FFF2-40B4-BE49-F238E27FC236}">
                <a16:creationId xmlns:a16="http://schemas.microsoft.com/office/drawing/2014/main" id="{3FBDC7BF-B0EC-D6DC-A363-2F9A05BF9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75" y="4233732"/>
            <a:ext cx="6728792" cy="68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91F999-3C38-E61D-7F25-A1A7C2C4E34E}"/>
              </a:ext>
            </a:extLst>
          </p:cNvPr>
          <p:cNvSpPr txBox="1"/>
          <p:nvPr/>
        </p:nvSpPr>
        <p:spPr>
          <a:xfrm>
            <a:off x="4910921" y="3875314"/>
            <a:ext cx="2311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+0.1% vs. benchmark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7A7718-132C-F4C1-64F6-2BAF7B3FA1F5}"/>
              </a:ext>
            </a:extLst>
          </p:cNvPr>
          <p:cNvSpPr txBox="1"/>
          <p:nvPr/>
        </p:nvSpPr>
        <p:spPr>
          <a:xfrm>
            <a:off x="4503272" y="4972060"/>
            <a:ext cx="2719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“half”-trick does not 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CB9FF0-607D-AF43-7FE3-19672F56BE7F}"/>
              </a:ext>
            </a:extLst>
          </p:cNvPr>
          <p:cNvSpPr txBox="1"/>
          <p:nvPr/>
        </p:nvSpPr>
        <p:spPr>
          <a:xfrm>
            <a:off x="8215859" y="5733341"/>
            <a:ext cx="16252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Note: </a:t>
            </a:r>
          </a:p>
          <a:p>
            <a:r>
              <a:rPr lang="en-US" dirty="0">
                <a:solidFill>
                  <a:srgbClr val="0000FF"/>
                </a:solidFill>
              </a:rPr>
              <a:t>plateau = 0.6!</a:t>
            </a:r>
          </a:p>
        </p:txBody>
      </p:sp>
    </p:spTree>
    <p:extLst>
      <p:ext uri="{BB962C8B-B14F-4D97-AF65-F5344CB8AC3E}">
        <p14:creationId xmlns:p14="http://schemas.microsoft.com/office/powerpoint/2010/main" val="1818441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A39DEF4-53A9-AB80-A97A-70FFA9C5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Current Structure (</a:t>
            </a:r>
            <a:r>
              <a:rPr lang="en-US" sz="3000" b="1" dirty="0">
                <a:solidFill>
                  <a:schemeClr val="bg1">
                    <a:lumMod val="85000"/>
                  </a:schemeClr>
                </a:solidFill>
              </a:rPr>
              <a:t>optimization/simplification is possible</a:t>
            </a:r>
            <a:r>
              <a:rPr lang="en-US" sz="3000" b="1" dirty="0"/>
              <a:t>)</a:t>
            </a:r>
          </a:p>
        </p:txBody>
      </p:sp>
      <p:pic>
        <p:nvPicPr>
          <p:cNvPr id="7" name="Picture 6" descr="Graphical user interface&#10;&#10;AI-generated content may be incorrect.">
            <a:extLst>
              <a:ext uri="{FF2B5EF4-FFF2-40B4-BE49-F238E27FC236}">
                <a16:creationId xmlns:a16="http://schemas.microsoft.com/office/drawing/2014/main" id="{C12712CE-BCF2-4727-80EB-6EF0BDAB5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00" y="1341480"/>
            <a:ext cx="3899777" cy="5095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D3DFC0-B11D-DEB5-F099-37B7D6FE9453}"/>
              </a:ext>
            </a:extLst>
          </p:cNvPr>
          <p:cNvSpPr txBox="1"/>
          <p:nvPr/>
        </p:nvSpPr>
        <p:spPr>
          <a:xfrm>
            <a:off x="4684645" y="1341480"/>
            <a:ext cx="7154930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limbss</a:t>
            </a:r>
            <a:r>
              <a:rPr lang="en-US" dirty="0"/>
              <a:t> – main function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refine_rgrid</a:t>
            </a:r>
            <a:r>
              <a:rPr lang="en-US" dirty="0"/>
              <a:t> – adds auxiliary shells and LOS points to the main ones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getix</a:t>
            </a:r>
            <a:r>
              <a:rPr lang="en-US" dirty="0"/>
              <a:t> – returns location (left </a:t>
            </a:r>
            <a:r>
              <a:rPr lang="en-US" dirty="0" err="1"/>
              <a:t>ixlo</a:t>
            </a:r>
            <a:r>
              <a:rPr lang="en-US" dirty="0"/>
              <a:t> &amp; right </a:t>
            </a:r>
            <a:r>
              <a:rPr lang="en-US" dirty="0" err="1"/>
              <a:t>ixhi</a:t>
            </a:r>
            <a:r>
              <a:rPr lang="en-US" dirty="0"/>
              <a:t> indices) of the interval x[</a:t>
            </a:r>
            <a:r>
              <a:rPr lang="en-US" dirty="0" err="1"/>
              <a:t>ixlo:ixhi</a:t>
            </a:r>
            <a:r>
              <a:rPr lang="en-US" dirty="0"/>
              <a:t>]  containing x0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xy_los_shell</a:t>
            </a:r>
            <a:r>
              <a:rPr lang="en-US" dirty="0"/>
              <a:t> – returns XY-coordinates for points S on LOS (Z = </a:t>
            </a:r>
            <a:r>
              <a:rPr lang="en-US" dirty="0" err="1"/>
              <a:t>z_tp</a:t>
            </a:r>
            <a:r>
              <a:rPr lang="en-US" dirty="0"/>
              <a:t>); S are points where LOS intersects with shells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xyz_sol_shell</a:t>
            </a:r>
            <a:r>
              <a:rPr lang="en-US" dirty="0"/>
              <a:t> – returns XYZ for a point where the solar beam heading to the point S intersects a shell with size 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tau_segment</a:t>
            </a:r>
            <a:r>
              <a:rPr lang="en-US" dirty="0"/>
              <a:t> – returns optical path between 2 points in the same optical layer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antideriv</a:t>
            </a:r>
            <a:r>
              <a:rPr lang="en-US" dirty="0"/>
              <a:t> – returns the value of analytical antiderivative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simpson – numerically integrates along LOS using Simpson rule    </a:t>
            </a:r>
          </a:p>
        </p:txBody>
      </p:sp>
    </p:spTree>
    <p:extLst>
      <p:ext uri="{BB962C8B-B14F-4D97-AF65-F5344CB8AC3E}">
        <p14:creationId xmlns:p14="http://schemas.microsoft.com/office/powerpoint/2010/main" val="1821840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CA4F74-E09C-2C52-678F-36137BD94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3" y="1135147"/>
            <a:ext cx="6724651" cy="80423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3025C30-1687-7B7B-0991-B1ED75C5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21920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Current Structure of Input/Output (</a:t>
            </a:r>
            <a:r>
              <a:rPr lang="en-US" sz="3000" b="1" dirty="0">
                <a:solidFill>
                  <a:schemeClr val="bg1">
                    <a:lumMod val="85000"/>
                  </a:schemeClr>
                </a:solidFill>
              </a:rPr>
              <a:t>optimization / extension is possible</a:t>
            </a:r>
            <a:r>
              <a:rPr lang="en-US" sz="3000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FB9B3-7441-F26B-C8DD-72AC92D27B8C}"/>
              </a:ext>
            </a:extLst>
          </p:cNvPr>
          <p:cNvSpPr txBox="1"/>
          <p:nvPr/>
        </p:nvSpPr>
        <p:spPr>
          <a:xfrm>
            <a:off x="431732" y="2430821"/>
            <a:ext cx="11679306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z_tp</a:t>
            </a:r>
            <a:r>
              <a:rPr lang="en-US" dirty="0"/>
              <a:t>:			Z-coordinate of tangent point, km; 	</a:t>
            </a:r>
            <a:r>
              <a:rPr lang="en-US" dirty="0" err="1"/>
              <a:t>z_tp</a:t>
            </a:r>
            <a:r>
              <a:rPr lang="en-US" dirty="0"/>
              <a:t> = Re + </a:t>
            </a:r>
            <a:r>
              <a:rPr lang="en-US" dirty="0" err="1"/>
              <a:t>h_tp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mu0:			cos(SZA) &gt; 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caz</a:t>
            </a:r>
            <a:r>
              <a:rPr lang="en-US" dirty="0"/>
              <a:t> &amp; </a:t>
            </a:r>
            <a:r>
              <a:rPr lang="en-US" dirty="0" err="1"/>
              <a:t>saz</a:t>
            </a:r>
            <a:r>
              <a:rPr lang="en-US" dirty="0"/>
              <a:t>: 		cos &amp; sin of RAA (saves a few calls to cos &amp; sin and DEG </a:t>
            </a:r>
            <a:r>
              <a:rPr lang="en-US" dirty="0">
                <a:sym typeface="Wingdings" panose="05000000000000000000" pitchFamily="2" charset="2"/>
              </a:rPr>
              <a:t> RAD </a:t>
            </a:r>
            <a:r>
              <a:rPr lang="en-US" dirty="0"/>
              <a:t>inside </a:t>
            </a:r>
            <a:r>
              <a:rPr lang="en-US" dirty="0" err="1"/>
              <a:t>limbss</a:t>
            </a:r>
            <a:r>
              <a:rPr lang="en-US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r[nlr+1]</a:t>
            </a:r>
            <a:r>
              <a:rPr lang="en-US" dirty="0"/>
              <a:t>:		</a:t>
            </a:r>
            <a:r>
              <a:rPr lang="en-US" b="1" dirty="0"/>
              <a:t>array</a:t>
            </a:r>
            <a:r>
              <a:rPr lang="en-US" dirty="0"/>
              <a:t> of the shell radii, km; 	r = Re + zkm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asca</a:t>
            </a:r>
            <a:r>
              <a:rPr lang="en-US" b="1" dirty="0"/>
              <a:t>, </a:t>
            </a:r>
            <a:r>
              <a:rPr lang="en-US" b="1" dirty="0" err="1"/>
              <a:t>bsca</a:t>
            </a:r>
            <a:r>
              <a:rPr lang="en-US" b="1" dirty="0"/>
              <a:t>[nlr]:</a:t>
            </a:r>
            <a:r>
              <a:rPr lang="en-US" dirty="0"/>
              <a:t>	</a:t>
            </a:r>
            <a:r>
              <a:rPr lang="en-US" b="1" dirty="0"/>
              <a:t>arrays</a:t>
            </a:r>
            <a:r>
              <a:rPr lang="en-US" dirty="0"/>
              <a:t> of linear interpolation parameters, </a:t>
            </a:r>
            <a:r>
              <a:rPr lang="en-US" dirty="0" err="1"/>
              <a:t>sca</a:t>
            </a:r>
            <a:r>
              <a:rPr lang="en-US" dirty="0"/>
              <a:t> = a*r + b, for scattering coefficient [1/km]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aext</a:t>
            </a:r>
            <a:r>
              <a:rPr lang="en-US" b="1" dirty="0"/>
              <a:t>, </a:t>
            </a:r>
            <a:r>
              <a:rPr lang="en-US" b="1" dirty="0" err="1"/>
              <a:t>bext</a:t>
            </a:r>
            <a:r>
              <a:rPr lang="en-US" b="1" dirty="0"/>
              <a:t>[nlr]:	</a:t>
            </a:r>
            <a:r>
              <a:rPr lang="en-US" dirty="0"/>
              <a:t>	</a:t>
            </a:r>
            <a:r>
              <a:rPr lang="en-US" b="1" dirty="0"/>
              <a:t>same</a:t>
            </a:r>
            <a:r>
              <a:rPr lang="en-US" dirty="0"/>
              <a:t> but for extinction for coefficient [1/km]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phasef</a:t>
            </a:r>
            <a:r>
              <a:rPr lang="en-US" b="1" dirty="0"/>
              <a:t>[nlr]:</a:t>
            </a:r>
            <a:r>
              <a:rPr lang="en-US" dirty="0"/>
              <a:t> 		</a:t>
            </a:r>
            <a:r>
              <a:rPr lang="en-US" b="1" dirty="0"/>
              <a:t>array</a:t>
            </a:r>
            <a:r>
              <a:rPr lang="en-US" dirty="0"/>
              <a:t> of the phase function values at  the scattering angle = f(mu0, </a:t>
            </a:r>
            <a:r>
              <a:rPr lang="en-US" dirty="0" err="1"/>
              <a:t>caz</a:t>
            </a:r>
            <a:r>
              <a:rPr lang="en-US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nlr:			number of optical layers; nlr+1 – number of main shells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00000"/>
                </a:solidFill>
              </a:rPr>
              <a:t>num_extra</a:t>
            </a:r>
            <a:r>
              <a:rPr lang="en-US" dirty="0">
                <a:solidFill>
                  <a:srgbClr val="C00000"/>
                </a:solidFill>
              </a:rPr>
              <a:t> – number of extra shells (accuracy); currently it is an internal parameter, but it should come on input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8060E-F59A-9C95-FD47-B5C1476661E1}"/>
              </a:ext>
            </a:extLst>
          </p:cNvPr>
          <p:cNvSpPr txBox="1"/>
          <p:nvPr/>
        </p:nvSpPr>
        <p:spPr>
          <a:xfrm>
            <a:off x="7599604" y="1352599"/>
            <a:ext cx="3587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Output: </a:t>
            </a:r>
            <a:r>
              <a:rPr lang="en-US" dirty="0" err="1">
                <a:solidFill>
                  <a:srgbClr val="0000FF"/>
                </a:solidFill>
              </a:rPr>
              <a:t>Iss</a:t>
            </a:r>
            <a:r>
              <a:rPr lang="en-US" dirty="0">
                <a:solidFill>
                  <a:srgbClr val="0000FF"/>
                </a:solidFill>
              </a:rPr>
              <a:t> – one value (scalar)</a:t>
            </a:r>
          </a:p>
        </p:txBody>
      </p:sp>
    </p:spTree>
    <p:extLst>
      <p:ext uri="{BB962C8B-B14F-4D97-AF65-F5344CB8AC3E}">
        <p14:creationId xmlns:p14="http://schemas.microsoft.com/office/powerpoint/2010/main" val="2661144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5B9A-33CF-7E95-4FB9-22F6B18B1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C82409-C727-FEDB-8E69-047AD132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17"/>
            <a:ext cx="12192000" cy="1325563"/>
          </a:xfrm>
        </p:spPr>
        <p:txBody>
          <a:bodyPr>
            <a:normAutofit/>
          </a:bodyPr>
          <a:lstStyle/>
          <a:p>
            <a:r>
              <a:rPr lang="en-US" sz="3000" b="1" dirty="0"/>
              <a:t>Relative Deviation in % for ~11.5K points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DA8536C-D148-3267-1C85-4C188825A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838" y="1341480"/>
            <a:ext cx="3995714" cy="173881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9 solar geometries: SZA &amp; RAZ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9 wavelengths: 300 … 675 nm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Rayleigh &amp; Rayleigh + Ozone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80 tangent heights</a:t>
            </a:r>
          </a:p>
        </p:txBody>
      </p:sp>
      <p:pic>
        <p:nvPicPr>
          <p:cNvPr id="4" name="Picture 3" descr="Chart, histogram&#10;&#10;AI-generated content may be incorrect.">
            <a:extLst>
              <a:ext uri="{FF2B5EF4-FFF2-40B4-BE49-F238E27FC236}">
                <a16:creationId xmlns:a16="http://schemas.microsoft.com/office/drawing/2014/main" id="{8875BB90-AF87-BA63-B7AF-931C1D86D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28" y="3599908"/>
            <a:ext cx="4405524" cy="32004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Picture 8" descr="Chart, histogram&#10;&#10;AI-generated content may be incorrect.">
            <a:extLst>
              <a:ext uri="{FF2B5EF4-FFF2-40B4-BE49-F238E27FC236}">
                <a16:creationId xmlns:a16="http://schemas.microsoft.com/office/drawing/2014/main" id="{22838218-32EB-56F6-99F7-C114E9AA5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737" y="3599908"/>
            <a:ext cx="4399839" cy="32004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0D6C6F8-744F-EBE5-3DFC-AD2661B55604}"/>
              </a:ext>
            </a:extLst>
          </p:cNvPr>
          <p:cNvSpPr txBox="1">
            <a:spLocks/>
          </p:cNvSpPr>
          <p:nvPr/>
        </p:nvSpPr>
        <p:spPr>
          <a:xfrm>
            <a:off x="1133927" y="3963946"/>
            <a:ext cx="2278573" cy="994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B050"/>
                </a:solidFill>
              </a:rPr>
              <a:t>max |err| = 0.18%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 err="1">
                <a:solidFill>
                  <a:srgbClr val="00B050"/>
                </a:solidFill>
              </a:rPr>
              <a:t>avr</a:t>
            </a:r>
            <a:r>
              <a:rPr lang="en-US" sz="2000" dirty="0">
                <a:solidFill>
                  <a:srgbClr val="00B050"/>
                </a:solidFill>
              </a:rPr>
              <a:t> |err|   = 0.10%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A92361-1290-CE0C-9326-17AB73B0E57A}"/>
              </a:ext>
            </a:extLst>
          </p:cNvPr>
          <p:cNvSpPr/>
          <p:nvPr/>
        </p:nvSpPr>
        <p:spPr>
          <a:xfrm>
            <a:off x="3476577" y="3550842"/>
            <a:ext cx="1267164" cy="413104"/>
          </a:xfrm>
          <a:prstGeom prst="ellipse">
            <a:avLst/>
          </a:prstGeom>
          <a:noFill/>
          <a:ln w="38100">
            <a:solidFill>
              <a:srgbClr val="EE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5F71C1-2D36-88CC-EC0E-4594C1F5D346}"/>
              </a:ext>
            </a:extLst>
          </p:cNvPr>
          <p:cNvSpPr/>
          <p:nvPr/>
        </p:nvSpPr>
        <p:spPr>
          <a:xfrm>
            <a:off x="9836392" y="3521712"/>
            <a:ext cx="1267164" cy="413104"/>
          </a:xfrm>
          <a:prstGeom prst="ellipse">
            <a:avLst/>
          </a:prstGeom>
          <a:noFill/>
          <a:ln w="38100">
            <a:solidFill>
              <a:srgbClr val="EE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2E6D7AA-A508-2D9D-7C99-0C778AD05AA7}"/>
              </a:ext>
            </a:extLst>
          </p:cNvPr>
          <p:cNvSpPr txBox="1">
            <a:spLocks/>
          </p:cNvSpPr>
          <p:nvPr/>
        </p:nvSpPr>
        <p:spPr>
          <a:xfrm>
            <a:off x="7203276" y="3803171"/>
            <a:ext cx="2278573" cy="994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max |err| = 0.14%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 err="1"/>
              <a:t>avr</a:t>
            </a:r>
            <a:r>
              <a:rPr lang="en-US" sz="2000" dirty="0"/>
              <a:t> |err|   = 0.08%</a:t>
            </a:r>
          </a:p>
        </p:txBody>
      </p:sp>
      <p:pic>
        <p:nvPicPr>
          <p:cNvPr id="15" name="Picture 14" descr="Chart, histogram&#10;&#10;AI-generated content may be incorrect.">
            <a:extLst>
              <a:ext uri="{FF2B5EF4-FFF2-40B4-BE49-F238E27FC236}">
                <a16:creationId xmlns:a16="http://schemas.microsoft.com/office/drawing/2014/main" id="{2915E662-8146-AA18-5ADB-1A0A0B2D2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737" y="234670"/>
            <a:ext cx="4398264" cy="3134459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CAD89175-2866-2EA0-EF84-386D28C46938}"/>
              </a:ext>
            </a:extLst>
          </p:cNvPr>
          <p:cNvSpPr txBox="1">
            <a:spLocks/>
          </p:cNvSpPr>
          <p:nvPr/>
        </p:nvSpPr>
        <p:spPr>
          <a:xfrm>
            <a:off x="8824983" y="665554"/>
            <a:ext cx="2278573" cy="994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0000"/>
                </a:solidFill>
              </a:rPr>
              <a:t>max |err| = 1.67%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 err="1">
                <a:solidFill>
                  <a:srgbClr val="EE0000"/>
                </a:solidFill>
              </a:rPr>
              <a:t>avr</a:t>
            </a:r>
            <a:r>
              <a:rPr lang="en-US" sz="2000" dirty="0">
                <a:solidFill>
                  <a:srgbClr val="EE0000"/>
                </a:solidFill>
              </a:rPr>
              <a:t> |err|   = 0.23%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441719-D94F-10D0-2B0A-4B7EA02C9EE7}"/>
              </a:ext>
            </a:extLst>
          </p:cNvPr>
          <p:cNvSpPr/>
          <p:nvPr/>
        </p:nvSpPr>
        <p:spPr>
          <a:xfrm>
            <a:off x="9729670" y="152640"/>
            <a:ext cx="1267164" cy="413104"/>
          </a:xfrm>
          <a:prstGeom prst="ellipse">
            <a:avLst/>
          </a:prstGeom>
          <a:noFill/>
          <a:ln w="38100">
            <a:solidFill>
              <a:srgbClr val="EE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4EFCB1A5-95DF-56CF-FA62-988EAF803658}"/>
              </a:ext>
            </a:extLst>
          </p:cNvPr>
          <p:cNvSpPr txBox="1">
            <a:spLocks/>
          </p:cNvSpPr>
          <p:nvPr/>
        </p:nvSpPr>
        <p:spPr>
          <a:xfrm>
            <a:off x="11035728" y="1587900"/>
            <a:ext cx="1120686" cy="427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Time = t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6052E55-900A-8B2B-FA3E-13CDB0CFED15}"/>
              </a:ext>
            </a:extLst>
          </p:cNvPr>
          <p:cNvSpPr txBox="1">
            <a:spLocks/>
          </p:cNvSpPr>
          <p:nvPr/>
        </p:nvSpPr>
        <p:spPr>
          <a:xfrm>
            <a:off x="4925551" y="5088523"/>
            <a:ext cx="1352065" cy="427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Time = 2t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7769B0A0-FBAE-4475-4250-D2BB26744C16}"/>
              </a:ext>
            </a:extLst>
          </p:cNvPr>
          <p:cNvSpPr txBox="1">
            <a:spLocks/>
          </p:cNvSpPr>
          <p:nvPr/>
        </p:nvSpPr>
        <p:spPr>
          <a:xfrm>
            <a:off x="11035728" y="4986109"/>
            <a:ext cx="1352065" cy="427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Time = 3t</a:t>
            </a:r>
          </a:p>
        </p:txBody>
      </p:sp>
    </p:spTree>
    <p:extLst>
      <p:ext uri="{BB962C8B-B14F-4D97-AF65-F5344CB8AC3E}">
        <p14:creationId xmlns:p14="http://schemas.microsoft.com/office/powerpoint/2010/main" val="109560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3627</TotalTime>
  <Words>1741</Words>
  <Application>Microsoft Office PowerPoint</Application>
  <PresentationFormat>Widescreen</PresentationFormat>
  <Paragraphs>263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Wingdings</vt:lpstr>
      <vt:lpstr>Office Theme</vt:lpstr>
      <vt:lpstr>Limb Single Scattering </vt:lpstr>
      <vt:lpstr>Comparison vs. Benchmark by Zawada et al., AMT (2021): goal ~ 0.2%</vt:lpstr>
      <vt:lpstr>Comparison vs. Benchmark by Zawada et al., AMT (2021): goal ~ 0.2%</vt:lpstr>
      <vt:lpstr>Step 1: Check for Twilight (SZA &gt; 90)</vt:lpstr>
      <vt:lpstr>Two Systems of Coordinates: 3D {O-XYZ} &amp; 2D {O-LOS = O-XY}</vt:lpstr>
      <vt:lpstr>Auxiliary Shells &amp; Extra Points S</vt:lpstr>
      <vt:lpstr>Add Auxiliary Shells, Define Location of All S-points: Main &amp; Aux</vt:lpstr>
      <vt:lpstr>What Happens at Point S (“Monte Carlo” approach):</vt:lpstr>
      <vt:lpstr>What Happens at Point S:</vt:lpstr>
      <vt:lpstr>Optical Path of Segment</vt:lpstr>
      <vt:lpstr>Optical Path of Segment: Analytical Antiderivative</vt:lpstr>
      <vt:lpstr>Optical Path along LOS:</vt:lpstr>
      <vt:lpstr>Optical Path along Sol:</vt:lpstr>
      <vt:lpstr>Contributing points:</vt:lpstr>
      <vt:lpstr>Contributing points:</vt:lpstr>
      <vt:lpstr>Current Structure (optimization/simplification is possible)</vt:lpstr>
      <vt:lpstr>Current Structure of Input/Output (optimization / extension is possible)</vt:lpstr>
      <vt:lpstr>Relative Deviation in % for ~11.5K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Korkin, Sergey V. (GSFC-613.0)[UNIVERSITY OF MARYLAND BALTIMORE CO]</dc:creator>
  <cp:lastModifiedBy>Korkin, Sergey V. (GSFC-613.0)[UNIVERSITY OF MARYLAND BALTIMORE CO]</cp:lastModifiedBy>
  <cp:revision>77</cp:revision>
  <dcterms:created xsi:type="dcterms:W3CDTF">2026-01-16T20:06:36Z</dcterms:created>
  <dcterms:modified xsi:type="dcterms:W3CDTF">2026-05-18T18:10:03Z</dcterms:modified>
</cp:coreProperties>
</file>